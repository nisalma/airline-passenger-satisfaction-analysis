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Passengers by satisfaction outcome</a:t>
            </a:r>
          </a:p>
        </c:rich>
      </c:tx>
      <c:overlay val="0"/>
    </c:title>
    <c:autoTitleDeleted val="0"/>
    <c:plotArea>
      <c:layout/>
      <c:doughnutChart>
        <c:varyColors val="1"/>
        <c:ser>
          <c:idx val="0"/>
          <c:order val="0"/>
          <c:tx>
            <c:strRef>
              <c:f>Sheet1!$B$1</c:f>
              <c:strCache>
                <c:ptCount val="1"/>
                <c:pt idx="0">
                  <c:v>Satisfaction</c:v>
                </c:pt>
              </c:strCache>
            </c:strRef>
          </c:tx>
          <c:spPr>
            <a:solidFill>
              <a:schemeClr val="accent1"/>
            </a:solidFill>
            <a:ln w="9525" cap="flat">
              <a:solidFill>
                <a:srgbClr val="F9F9F9"/>
              </a:solidFill>
              <a:prstDash val="solid"/>
              <a:round/>
            </a:ln>
            <a:effectLst/>
          </c:spPr>
          <c:dPt>
            <c:idx val="0"/>
            <c:bubble3D val="0"/>
            <c:spPr>
              <a:solidFill>
                <a:srgbClr val="F4A261"/>
              </a:solidFill>
              <a:effectLst/>
            </c:spPr>
            <c:extLst>
              <c:ext xmlns:c16="http://schemas.microsoft.com/office/drawing/2014/chart" uri="{C3380CC4-5D6E-409C-BE32-E72D297353CC}">
                <c16:uniqueId val="{00000001-7DFF-420A-B985-F0822FE59348}"/>
              </c:ext>
            </c:extLst>
          </c:dPt>
          <c:dPt>
            <c:idx val="1"/>
            <c:bubble3D val="0"/>
            <c:spPr>
              <a:solidFill>
                <a:srgbClr val="2A9D8F"/>
              </a:solidFill>
              <a:effectLst/>
            </c:spPr>
            <c:extLst>
              <c:ext xmlns:c16="http://schemas.microsoft.com/office/drawing/2014/chart" uri="{C3380CC4-5D6E-409C-BE32-E72D297353CC}">
                <c16:uniqueId val="{00000003-7DFF-420A-B985-F0822FE59348}"/>
              </c:ext>
            </c:extLst>
          </c:dPt>
          <c:dLbls>
            <c:dLbl>
              <c:idx val="0"/>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FF-420A-B985-F0822FE59348}"/>
                </c:ext>
              </c:extLst>
            </c:dLbl>
            <c:dLbl>
              <c:idx val="1"/>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DFF-420A-B985-F0822FE59348}"/>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Neutral or Dissatisfied</c:v>
                </c:pt>
                <c:pt idx="1">
                  <c:v>Satisfied</c:v>
                </c:pt>
              </c:strCache>
            </c:strRef>
          </c:cat>
          <c:val>
            <c:numRef>
              <c:f>Sheet1!$B$2:$B$3</c:f>
              <c:numCache>
                <c:formatCode>General</c:formatCode>
                <c:ptCount val="2"/>
                <c:pt idx="0">
                  <c:v>73452</c:v>
                </c:pt>
                <c:pt idx="1">
                  <c:v>56428</c:v>
                </c:pt>
              </c:numCache>
            </c:numRef>
          </c:val>
          <c:extLst>
            <c:ext xmlns:c16="http://schemas.microsoft.com/office/drawing/2014/chart" uri="{C3380CC4-5D6E-409C-BE32-E72D297353CC}">
              <c16:uniqueId val="{00000004-7DFF-420A-B985-F0822FE59348}"/>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Satisfaction rate by segment (%)</a:t>
            </a:r>
          </a:p>
        </c:rich>
      </c:tx>
      <c:layout>
        <c:manualLayout>
          <c:xMode val="edge"/>
          <c:yMode val="edge"/>
          <c:x val="0.1868583548671377"/>
          <c:y val="5.4504478648031429E-2"/>
        </c:manualLayout>
      </c:layout>
      <c:overlay val="0"/>
    </c:title>
    <c:autoTitleDeleted val="0"/>
    <c:plotArea>
      <c:layout/>
      <c:barChart>
        <c:barDir val="bar"/>
        <c:grouping val="clustered"/>
        <c:varyColors val="0"/>
        <c:ser>
          <c:idx val="0"/>
          <c:order val="0"/>
          <c:tx>
            <c:strRef>
              <c:f>Sheet1!$B$1</c:f>
              <c:strCache>
                <c:ptCount val="1"/>
                <c:pt idx="0">
                  <c:v>Satisfied %</c:v>
                </c:pt>
              </c:strCache>
            </c:strRef>
          </c:tx>
          <c:spPr>
            <a:solidFill>
              <a:srgbClr val="2A9D8F"/>
            </a:solidFill>
            <a:effectLst/>
          </c:spPr>
          <c:invertIfNegative val="0"/>
          <c:dLbls>
            <c:numFmt formatCode="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Personal travel</c:v>
                </c:pt>
                <c:pt idx="1">
                  <c:v>Economy</c:v>
                </c:pt>
                <c:pt idx="2">
                  <c:v>First-time</c:v>
                </c:pt>
                <c:pt idx="3">
                  <c:v>Economy Plus</c:v>
                </c:pt>
                <c:pt idx="4">
                  <c:v>Returning</c:v>
                </c:pt>
                <c:pt idx="5">
                  <c:v>Business travel</c:v>
                </c:pt>
                <c:pt idx="6">
                  <c:v>Business class</c:v>
                </c:pt>
              </c:strCache>
            </c:strRef>
          </c:cat>
          <c:val>
            <c:numRef>
              <c:f>Sheet1!$B$2:$B$8</c:f>
              <c:numCache>
                <c:formatCode>General</c:formatCode>
                <c:ptCount val="7"/>
                <c:pt idx="0">
                  <c:v>10.199999999999999</c:v>
                </c:pt>
                <c:pt idx="1">
                  <c:v>18.899999999999999</c:v>
                </c:pt>
                <c:pt idx="2">
                  <c:v>24.1</c:v>
                </c:pt>
                <c:pt idx="3">
                  <c:v>24.7</c:v>
                </c:pt>
                <c:pt idx="4">
                  <c:v>47.8</c:v>
                </c:pt>
                <c:pt idx="5">
                  <c:v>58.4</c:v>
                </c:pt>
                <c:pt idx="6">
                  <c:v>69.5</c:v>
                </c:pt>
              </c:numCache>
            </c:numRef>
          </c:val>
          <c:extLst>
            <c:ext xmlns:c16="http://schemas.microsoft.com/office/drawing/2014/chart" uri="{C3380CC4-5D6E-409C-BE32-E72D297353CC}">
              <c16:uniqueId val="{00000000-7441-4E58-8DD9-67FCF0133A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30106423976521507"/>
          <c:y val="9.0430215155502675E-2"/>
          <c:w val="0.73125403871784167"/>
          <c:h val="0.78254576812561771"/>
        </c:manualLayout>
      </c:layout>
      <c:barChart>
        <c:barDir val="bar"/>
        <c:grouping val="clustered"/>
        <c:varyColors val="0"/>
        <c:ser>
          <c:idx val="0"/>
          <c:order val="0"/>
          <c:tx>
            <c:strRef>
              <c:f>Sheet1!$B$1</c:f>
              <c:strCache>
                <c:ptCount val="1"/>
                <c:pt idx="0">
                  <c:v>Cramer's V</c:v>
                </c:pt>
              </c:strCache>
            </c:strRef>
          </c:tx>
          <c:spPr>
            <a:solidFill>
              <a:srgbClr val="2A9D8F"/>
            </a:solidFill>
            <a:effectLst/>
          </c:spPr>
          <c:invertIfNegative val="0"/>
          <c:dLbls>
            <c:numFmt formatCode="0.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Gender</c:v>
                </c:pt>
                <c:pt idx="1">
                  <c:v>Customer type</c:v>
                </c:pt>
                <c:pt idx="2">
                  <c:v>Type of travel</c:v>
                </c:pt>
                <c:pt idx="3">
                  <c:v>Class</c:v>
                </c:pt>
              </c:strCache>
            </c:strRef>
          </c:cat>
          <c:val>
            <c:numRef>
              <c:f>Sheet1!$B$2:$B$5</c:f>
              <c:numCache>
                <c:formatCode>General</c:formatCode>
                <c:ptCount val="4"/>
                <c:pt idx="0">
                  <c:v>0.01</c:v>
                </c:pt>
                <c:pt idx="1">
                  <c:v>0.185</c:v>
                </c:pt>
                <c:pt idx="2">
                  <c:v>0.45</c:v>
                </c:pt>
                <c:pt idx="3">
                  <c:v>0.503</c:v>
                </c:pt>
              </c:numCache>
            </c:numRef>
          </c:val>
          <c:extLst>
            <c:ext xmlns:c16="http://schemas.microsoft.com/office/drawing/2014/chart" uri="{C3380CC4-5D6E-409C-BE32-E72D297353CC}">
              <c16:uniqueId val="{00000000-CBD5-4264-85D6-05A62263E3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Test-set performance by model</a:t>
            </a:r>
          </a:p>
        </c:rich>
      </c:tx>
      <c:overlay val="0"/>
    </c:title>
    <c:autoTitleDeleted val="0"/>
    <c:plotArea>
      <c:layout/>
      <c:barChart>
        <c:barDir val="col"/>
        <c:grouping val="clustered"/>
        <c:varyColors val="0"/>
        <c:ser>
          <c:idx val="0"/>
          <c:order val="0"/>
          <c:tx>
            <c:strRef>
              <c:f>Sheet1!$B$1</c:f>
              <c:strCache>
                <c:ptCount val="1"/>
                <c:pt idx="0">
                  <c:v>AUC</c:v>
                </c:pt>
              </c:strCache>
            </c:strRef>
          </c:tx>
          <c:spPr>
            <a:solidFill>
              <a:srgbClr val="2A9D8F"/>
            </a:solidFill>
            <a:effectLst/>
          </c:spPr>
          <c:invertIfNegative val="0"/>
          <c:dLbls>
            <c:numFmt formatCode="0.0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Baseline</c:v>
                </c:pt>
                <c:pt idx="1">
                  <c:v>Service</c:v>
                </c:pt>
                <c:pt idx="2">
                  <c:v>Full</c:v>
                </c:pt>
              </c:strCache>
            </c:strRef>
          </c:cat>
          <c:val>
            <c:numRef>
              <c:f>Sheet1!$B$2:$B$4</c:f>
              <c:numCache>
                <c:formatCode>General</c:formatCode>
                <c:ptCount val="3"/>
                <c:pt idx="0">
                  <c:v>0.84</c:v>
                </c:pt>
                <c:pt idx="1">
                  <c:v>0.96499999999999997</c:v>
                </c:pt>
                <c:pt idx="2">
                  <c:v>0.96499999999999997</c:v>
                </c:pt>
              </c:numCache>
            </c:numRef>
          </c:val>
          <c:extLst>
            <c:ext xmlns:c16="http://schemas.microsoft.com/office/drawing/2014/chart" uri="{C3380CC4-5D6E-409C-BE32-E72D297353CC}">
              <c16:uniqueId val="{00000000-E098-4536-BDA6-A346FF90FAF2}"/>
            </c:ext>
          </c:extLst>
        </c:ser>
        <c:ser>
          <c:idx val="1"/>
          <c:order val="1"/>
          <c:tx>
            <c:strRef>
              <c:f>Sheet1!$C$1</c:f>
              <c:strCache>
                <c:ptCount val="1"/>
                <c:pt idx="0">
                  <c:v>Accuracy</c:v>
                </c:pt>
              </c:strCache>
            </c:strRef>
          </c:tx>
          <c:spPr>
            <a:solidFill>
              <a:srgbClr val="F4A261"/>
            </a:solidFill>
            <a:effectLst/>
          </c:spPr>
          <c:invertIfNegative val="0"/>
          <c:dLbls>
            <c:numFmt formatCode="0.0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Baseline</c:v>
                </c:pt>
                <c:pt idx="1">
                  <c:v>Service</c:v>
                </c:pt>
                <c:pt idx="2">
                  <c:v>Full</c:v>
                </c:pt>
              </c:strCache>
            </c:strRef>
          </c:cat>
          <c:val>
            <c:numRef>
              <c:f>Sheet1!$C$2:$C$4</c:f>
              <c:numCache>
                <c:formatCode>General</c:formatCode>
                <c:ptCount val="3"/>
                <c:pt idx="0">
                  <c:v>0.78600000000000003</c:v>
                </c:pt>
                <c:pt idx="1">
                  <c:v>0.90200000000000002</c:v>
                </c:pt>
                <c:pt idx="2">
                  <c:v>0.90300000000000002</c:v>
                </c:pt>
              </c:numCache>
            </c:numRef>
          </c:val>
          <c:extLst>
            <c:ext xmlns:c16="http://schemas.microsoft.com/office/drawing/2014/chart" uri="{C3380CC4-5D6E-409C-BE32-E72D297353CC}">
              <c16:uniqueId val="{00000001-E098-4536-BDA6-A346FF90FAF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1"/>
          <c:min val="0.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Mean overall service score by class</a:t>
            </a:r>
          </a:p>
        </c:rich>
      </c:tx>
      <c:overlay val="0"/>
    </c:title>
    <c:autoTitleDeleted val="0"/>
    <c:plotArea>
      <c:layout/>
      <c:barChart>
        <c:barDir val="col"/>
        <c:grouping val="clustered"/>
        <c:varyColors val="0"/>
        <c:ser>
          <c:idx val="0"/>
          <c:order val="0"/>
          <c:tx>
            <c:strRef>
              <c:f>Sheet1!$B$1</c:f>
              <c:strCache>
                <c:ptCount val="1"/>
                <c:pt idx="0">
                  <c:v>Service score</c:v>
                </c:pt>
              </c:strCache>
            </c:strRef>
          </c:tx>
          <c:spPr>
            <a:solidFill>
              <a:srgbClr val="17324D"/>
            </a:solidFill>
            <a:effectLst/>
          </c:spPr>
          <c:invertIfNegative val="0"/>
          <c:dLbls>
            <c:numFmt formatCode="0.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Business</c:v>
                </c:pt>
                <c:pt idx="1">
                  <c:v>Economy</c:v>
                </c:pt>
                <c:pt idx="2">
                  <c:v>Economy Plus</c:v>
                </c:pt>
              </c:strCache>
            </c:strRef>
          </c:cat>
          <c:val>
            <c:numRef>
              <c:f>Sheet1!$B$2:$B$4</c:f>
              <c:numCache>
                <c:formatCode>General</c:formatCode>
                <c:ptCount val="3"/>
                <c:pt idx="0">
                  <c:v>3.4649999999999999</c:v>
                </c:pt>
                <c:pt idx="1">
                  <c:v>3.1040000000000001</c:v>
                </c:pt>
                <c:pt idx="2">
                  <c:v>3.0960000000000001</c:v>
                </c:pt>
              </c:numCache>
            </c:numRef>
          </c:val>
          <c:extLst>
            <c:ext xmlns:c16="http://schemas.microsoft.com/office/drawing/2014/chart" uri="{C3380CC4-5D6E-409C-BE32-E72D297353CC}">
              <c16:uniqueId val="{00000000-10DE-4610-AF13-1BA0B0E201D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3.8"/>
          <c:min val="2.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Cumulative variance explained by component (%)</a:t>
            </a:r>
          </a:p>
        </c:rich>
      </c:tx>
      <c:overlay val="0"/>
    </c:title>
    <c:autoTitleDeleted val="0"/>
    <c:plotArea>
      <c:layout/>
      <c:lineChart>
        <c:grouping val="standard"/>
        <c:varyColors val="0"/>
        <c:ser>
          <c:idx val="0"/>
          <c:order val="0"/>
          <c:tx>
            <c:strRef>
              <c:f>Sheet1!$B$1</c:f>
              <c:strCache>
                <c:ptCount val="1"/>
                <c:pt idx="0">
                  <c:v>Cumulative variance</c:v>
                </c:pt>
              </c:strCache>
            </c:strRef>
          </c:tx>
          <c:spPr>
            <a:ln w="38100" cap="flat">
              <a:solidFill>
                <a:srgbClr val="2A9D8F"/>
              </a:solidFill>
              <a:prstDash val="solid"/>
              <a:round/>
            </a:ln>
            <a:effectLst/>
          </c:spPr>
          <c:marker>
            <c:symbol val="circle"/>
            <c:size val="7"/>
            <c:spPr>
              <a:solidFill>
                <a:srgbClr val="2A9D8F"/>
              </a:solidFill>
              <a:ln w="9525" cap="flat">
                <a:solidFill>
                  <a:srgbClr val="2A9D8F"/>
                </a:solidFill>
                <a:prstDash val="solid"/>
                <a:round/>
              </a:ln>
              <a:effectLst/>
            </c:spPr>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27.2</c:v>
                </c:pt>
                <c:pt idx="1">
                  <c:v>44.5</c:v>
                </c:pt>
                <c:pt idx="2">
                  <c:v>60</c:v>
                </c:pt>
                <c:pt idx="3">
                  <c:v>67.5</c:v>
                </c:pt>
                <c:pt idx="4">
                  <c:v>74.2</c:v>
                </c:pt>
                <c:pt idx="5">
                  <c:v>79.2</c:v>
                </c:pt>
                <c:pt idx="6">
                  <c:v>82.9</c:v>
                </c:pt>
                <c:pt idx="7">
                  <c:v>86.4</c:v>
                </c:pt>
                <c:pt idx="8">
                  <c:v>89.6</c:v>
                </c:pt>
                <c:pt idx="9">
                  <c:v>92.2</c:v>
                </c:pt>
                <c:pt idx="10">
                  <c:v>94.6</c:v>
                </c:pt>
                <c:pt idx="11">
                  <c:v>96.7</c:v>
                </c:pt>
                <c:pt idx="12">
                  <c:v>98.7</c:v>
                </c:pt>
                <c:pt idx="13">
                  <c:v>100</c:v>
                </c:pt>
              </c:numCache>
            </c:numRef>
          </c:val>
          <c:smooth val="0"/>
          <c:extLst>
            <c:ext xmlns:c16="http://schemas.microsoft.com/office/drawing/2014/chart" uri="{C3380CC4-5D6E-409C-BE32-E72D297353CC}">
              <c16:uniqueId val="{00000000-3409-4D34-BAB5-C37CAD4145C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4B5563"/>
                    </a:solidFill>
                    <a:latin typeface="Arial"/>
                  </a:defRPr>
                </a:pPr>
                <a:r>
                  <a:rPr lang="en-US" b="0" i="0" u="none" strike="noStrike">
                    <a:solidFill>
                      <a:srgbClr val="4B5563"/>
                    </a:solidFill>
                    <a:latin typeface="Arial"/>
                  </a:rPr>
                  <a:t>Principal component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Bayesian odds ratio per rating point</a:t>
            </a:r>
          </a:p>
        </c:rich>
      </c:tx>
      <c:overlay val="0"/>
    </c:title>
    <c:autoTitleDeleted val="0"/>
    <c:plotArea>
      <c:layout/>
      <c:barChart>
        <c:barDir val="bar"/>
        <c:grouping val="clustered"/>
        <c:varyColors val="0"/>
        <c:ser>
          <c:idx val="0"/>
          <c:order val="0"/>
          <c:tx>
            <c:strRef>
              <c:f>Sheet1!$B$1</c:f>
              <c:strCache>
                <c:ptCount val="1"/>
                <c:pt idx="0">
                  <c:v>Posterior median OR</c:v>
                </c:pt>
              </c:strCache>
            </c:strRef>
          </c:tx>
          <c:spPr>
            <a:solidFill>
              <a:srgbClr val="2A9D8F"/>
            </a:solidFill>
            <a:effectLst/>
          </c:spPr>
          <c:invertIfNegative val="0"/>
          <c:dLbls>
            <c:numFmt formatCode="0.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Leg room</c:v>
                </c:pt>
                <c:pt idx="1">
                  <c:v>On-board service</c:v>
                </c:pt>
                <c:pt idx="2">
                  <c:v>Check-in</c:v>
                </c:pt>
                <c:pt idx="3">
                  <c:v>Online booking</c:v>
                </c:pt>
                <c:pt idx="4">
                  <c:v>Wi-Fi</c:v>
                </c:pt>
                <c:pt idx="5">
                  <c:v>Online boarding</c:v>
                </c:pt>
              </c:strCache>
            </c:strRef>
          </c:cat>
          <c:val>
            <c:numRef>
              <c:f>Sheet1!$B$2:$B$7</c:f>
              <c:numCache>
                <c:formatCode>General</c:formatCode>
                <c:ptCount val="6"/>
                <c:pt idx="0">
                  <c:v>1.36</c:v>
                </c:pt>
                <c:pt idx="1">
                  <c:v>1.41</c:v>
                </c:pt>
                <c:pt idx="2">
                  <c:v>1.43</c:v>
                </c:pt>
                <c:pt idx="3">
                  <c:v>1.46</c:v>
                </c:pt>
                <c:pt idx="4">
                  <c:v>2.34</c:v>
                </c:pt>
                <c:pt idx="5">
                  <c:v>2.52</c:v>
                </c:pt>
              </c:numCache>
            </c:numRef>
          </c:val>
          <c:extLst>
            <c:ext xmlns:c16="http://schemas.microsoft.com/office/drawing/2014/chart" uri="{C3380CC4-5D6E-409C-BE32-E72D297353CC}">
              <c16:uniqueId val="{00000000-6F70-49F7-B4DF-A08B0F26F3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3"/>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324D"/>
                </a:solidFill>
                <a:latin typeface="Calibri"/>
              </a:defRPr>
            </a:pPr>
            <a:r>
              <a:rPr lang="en-US" sz="1300" b="0" i="0" u="none" strike="noStrike">
                <a:solidFill>
                  <a:srgbClr val="17324D"/>
                </a:solidFill>
                <a:latin typeface="Calibri"/>
              </a:rPr>
              <a:t>Simulated gain in satisfaction from +1 rating point (pp)</a:t>
            </a:r>
          </a:p>
        </c:rich>
      </c:tx>
      <c:overlay val="0"/>
    </c:title>
    <c:autoTitleDeleted val="0"/>
    <c:plotArea>
      <c:layout/>
      <c:barChart>
        <c:barDir val="bar"/>
        <c:grouping val="clustered"/>
        <c:varyColors val="0"/>
        <c:ser>
          <c:idx val="0"/>
          <c:order val="0"/>
          <c:tx>
            <c:strRef>
              <c:f>Sheet1!$B$1</c:f>
              <c:strCache>
                <c:ptCount val="1"/>
                <c:pt idx="0">
                  <c:v>Gain pp</c:v>
                </c:pt>
              </c:strCache>
            </c:strRef>
          </c:tx>
          <c:spPr>
            <a:solidFill>
              <a:srgbClr val="F4A261"/>
            </a:solidFill>
            <a:effectLst/>
          </c:spPr>
          <c:invertIfNegative val="0"/>
          <c:dLbls>
            <c:numFmt formatCode="0.0" sourceLinked="0"/>
            <c:spPr>
              <a:noFill/>
              <a:ln>
                <a:noFill/>
              </a:ln>
              <a:effectLst/>
            </c:spPr>
            <c:txPr>
              <a:bodyPr/>
              <a:lstStyle/>
              <a:p>
                <a:pPr>
                  <a:defRPr sz="1100" b="0" i="0" u="none" strike="noStrike">
                    <a:solidFill>
                      <a:srgbClr val="17324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Leg room</c:v>
                </c:pt>
                <c:pt idx="1">
                  <c:v>On-board service</c:v>
                </c:pt>
                <c:pt idx="2">
                  <c:v>Check-in</c:v>
                </c:pt>
                <c:pt idx="3">
                  <c:v>Online booking</c:v>
                </c:pt>
                <c:pt idx="4">
                  <c:v>Wi-Fi</c:v>
                </c:pt>
                <c:pt idx="5">
                  <c:v>Online boarding</c:v>
                </c:pt>
              </c:strCache>
            </c:strRef>
          </c:cat>
          <c:val>
            <c:numRef>
              <c:f>Sheet1!$B$2:$B$7</c:f>
              <c:numCache>
                <c:formatCode>General</c:formatCode>
                <c:ptCount val="6"/>
                <c:pt idx="0">
                  <c:v>1.74</c:v>
                </c:pt>
                <c:pt idx="1">
                  <c:v>1.97</c:v>
                </c:pt>
                <c:pt idx="2">
                  <c:v>2.11</c:v>
                </c:pt>
                <c:pt idx="3">
                  <c:v>2.23</c:v>
                </c:pt>
                <c:pt idx="4">
                  <c:v>5.57</c:v>
                </c:pt>
                <c:pt idx="5">
                  <c:v>5.62</c:v>
                </c:pt>
              </c:numCache>
            </c:numRef>
          </c:val>
          <c:extLst>
            <c:ext xmlns:c16="http://schemas.microsoft.com/office/drawing/2014/chart" uri="{C3380CC4-5D6E-409C-BE32-E72D297353CC}">
              <c16:uniqueId val="{00000000-82B5-48F6-8F4F-55EE2BCBB1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7"/>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236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Steps 2-6 output (dim, table(Satisfaction)).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found by web search and checked at abstract level only. Read the full papers before quoting numbers in the viva, and add any extra papers your team has 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Steps 2-6 output (data quality, missing values).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step19_segment_satisfaction.csv and step19_delay_effect.csv.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 11 output (chi-square, t-test, ANOVA).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step14_classification_metrics.csv and step14_auc.csv.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step17_design_summary.csv.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step15_pca_variance.csv and step15_pca_vs_service.csv.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step16_bayes_odds_ratios.csv and step16_bayes_group_comparisons.csv and step16_prior_sensitivity.csv (n = 30: 53.1% uniform prior vs 35.4% skeptical Beta(30,70); n = 300: 49.7% vs 44.8%; n = 103,904: 43.4% vs 43.4%). This is why Bayesian methods matter for small segments or new routes but not for the full dataset.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step18_timeseries_summary.csv. Figures checked against the output of part111_final_steps1_22.R. The 24+ months is a rule of thumb (about two full yearly cycles of monthly data), not a result from the data; the R script gives it only as an example.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step20_whatif_simulation.csv and step20_segment_risk.csv.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placeholders with real expert feedback and attach the evidence. No expert opinions have been invented. Questionnaire template: step21_expert_questionnaire_TEMPLATE.csv. Score completed sheets with summarise_expert_validation() in the R script. The script uses I-CVI &gt;= 0.78 (Lynn, 1986; Polit &amp; Beck, 2006), which applies to panels of 6 or more experts; use 0.83 for 3-5 experts. Note the classic CVI uses a 4-point scale; here a 1-5 scale is used and 4-5 counts as agree. The three counter-intuitive ratings come from step21_face_validity.csv.</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check: step20_whatif_simulation.csv. Figures checked against the output of part111_final_steps1_22.R.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ir-ithesis.swu.ac.th/handle/123456789/3138"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kaggle.com/datasets/sjleshrac/airlines-customer-satisfaction" TargetMode="Externa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5220/0013834200004708" TargetMode="External"/><Relationship Id="rId2" Type="http://schemas.openxmlformats.org/officeDocument/2006/relationships/hyperlink" Target="https://ir-ithesis.swu.ac.th/handle/123456789/3138" TargetMode="External"/><Relationship Id="rId1" Type="http://schemas.openxmlformats.org/officeDocument/2006/relationships/slideLayout" Target="../slideLayouts/slideLayout1.xml"/><Relationship Id="rId5" Type="http://schemas.openxmlformats.org/officeDocument/2006/relationships/hyperlink" Target="https://doi.org/10.1016/j.jairtraman.2017.09.010" TargetMode="External"/><Relationship Id="rId4" Type="http://schemas.openxmlformats.org/officeDocument/2006/relationships/hyperlink" Target="https://doi.org/10.1016/j.jairtraman.2014.10.0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Shape 0"/>
          <p:cNvSpPr/>
          <p:nvPr/>
        </p:nvSpPr>
        <p:spPr>
          <a:xfrm>
            <a:off x="0" y="5074920"/>
            <a:ext cx="12188952" cy="868680"/>
          </a:xfrm>
          <a:prstGeom prst="rect">
            <a:avLst/>
          </a:prstGeom>
          <a:solidFill>
            <a:srgbClr val="2A9D8F"/>
          </a:solidFill>
          <a:ln w="12700">
            <a:solidFill>
              <a:srgbClr val="2A9D8F"/>
            </a:solidFill>
            <a:prstDash val="solid"/>
          </a:ln>
        </p:spPr>
        <p:txBody>
          <a:bodyPr/>
          <a:lstStyle/>
          <a:p>
            <a:endParaRPr lang="en-US"/>
          </a:p>
        </p:txBody>
      </p:sp>
      <p:sp>
        <p:nvSpPr>
          <p:cNvPr id="3" name="Shape 1"/>
          <p:cNvSpPr/>
          <p:nvPr/>
        </p:nvSpPr>
        <p:spPr>
          <a:xfrm>
            <a:off x="0" y="5943600"/>
            <a:ext cx="12188952" cy="914400"/>
          </a:xfrm>
          <a:prstGeom prst="rect">
            <a:avLst/>
          </a:prstGeom>
          <a:solidFill>
            <a:srgbClr val="F4A261"/>
          </a:solidFill>
          <a:ln w="12700">
            <a:solidFill>
              <a:srgbClr val="F4A261"/>
            </a:solidFill>
            <a:prstDash val="solid"/>
          </a:ln>
        </p:spPr>
        <p:txBody>
          <a:bodyPr/>
          <a:lstStyle/>
          <a:p>
            <a:endParaRPr lang="en-US"/>
          </a:p>
        </p:txBody>
      </p:sp>
      <p:sp>
        <p:nvSpPr>
          <p:cNvPr id="4" name="Text 2"/>
          <p:cNvSpPr txBox="1"/>
          <p:nvPr/>
        </p:nvSpPr>
        <p:spPr>
          <a:xfrm>
            <a:off x="731520" y="1188720"/>
            <a:ext cx="10058400" cy="365760"/>
          </a:xfrm>
          <a:prstGeom prst="rect">
            <a:avLst/>
          </a:prstGeom>
          <a:noFill/>
          <a:ln/>
        </p:spPr>
        <p:txBody>
          <a:bodyPr wrap="square" lIns="0" tIns="0" rIns="0" bIns="0" rtlCol="0" anchor="ctr"/>
          <a:lstStyle/>
          <a:p>
            <a:pPr marL="0" indent="0">
              <a:buNone/>
            </a:pPr>
            <a:r>
              <a:rPr lang="en-US" sz="1600" b="1" dirty="0">
                <a:solidFill>
                  <a:srgbClr val="F4A261"/>
                </a:solidFill>
                <a:latin typeface="Calibri" pitchFamily="34" charset="0"/>
                <a:ea typeface="Calibri" pitchFamily="34" charset="-122"/>
                <a:cs typeface="Calibri" pitchFamily="34" charset="-120"/>
              </a:rPr>
              <a:t>IT3081 Statistical Modelling</a:t>
            </a:r>
            <a:endParaRPr lang="en-US" sz="1600" dirty="0"/>
          </a:p>
        </p:txBody>
      </p:sp>
      <p:sp>
        <p:nvSpPr>
          <p:cNvPr id="5" name="Text 3"/>
          <p:cNvSpPr txBox="1"/>
          <p:nvPr/>
        </p:nvSpPr>
        <p:spPr>
          <a:xfrm>
            <a:off x="731520" y="1691640"/>
            <a:ext cx="10515600" cy="146304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Airline Passenger Satisfaction: Drivers and Decision Support</a:t>
            </a:r>
            <a:endParaRPr lang="en-US" sz="4000" dirty="0"/>
          </a:p>
        </p:txBody>
      </p:sp>
      <p:sp>
        <p:nvSpPr>
          <p:cNvPr id="6" name="Text 4"/>
          <p:cNvSpPr txBox="1"/>
          <p:nvPr/>
        </p:nvSpPr>
        <p:spPr>
          <a:xfrm>
            <a:off x="731520" y="3383280"/>
            <a:ext cx="10058400" cy="457200"/>
          </a:xfrm>
          <a:prstGeom prst="rect">
            <a:avLst/>
          </a:prstGeom>
          <a:noFill/>
          <a:ln/>
        </p:spPr>
        <p:txBody>
          <a:bodyPr wrap="square" lIns="0" tIns="0" rIns="0" bIns="0" rtlCol="0" anchor="ctr"/>
          <a:lstStyle/>
          <a:p>
            <a:pPr marL="0" indent="0">
              <a:buNone/>
            </a:pPr>
            <a:r>
              <a:rPr lang="en-US" sz="1800" dirty="0">
                <a:solidFill>
                  <a:srgbClr val="DCE6F0"/>
                </a:solidFill>
                <a:latin typeface="Calibri" pitchFamily="34" charset="0"/>
                <a:ea typeface="Calibri" pitchFamily="34" charset="-122"/>
                <a:cs typeface="Calibri" pitchFamily="34" charset="-120"/>
              </a:rPr>
              <a:t>Industry Innovation Consulting Challenge: From Data to Strategic Decisions</a:t>
            </a:r>
            <a:endParaRPr lang="en-US" sz="1800" dirty="0"/>
          </a:p>
        </p:txBody>
      </p:sp>
      <p:sp>
        <p:nvSpPr>
          <p:cNvPr id="7" name="Text 5"/>
          <p:cNvSpPr txBox="1"/>
          <p:nvPr/>
        </p:nvSpPr>
        <p:spPr>
          <a:xfrm>
            <a:off x="731520" y="6172200"/>
            <a:ext cx="10789920" cy="365760"/>
          </a:xfrm>
          <a:prstGeom prst="rect">
            <a:avLst/>
          </a:prstGeom>
          <a:noFill/>
          <a:ln/>
        </p:spPr>
        <p:txBody>
          <a:bodyPr wrap="square" lIns="0" tIns="0" rIns="0" bIns="0"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Airline Passenger Satisfaction  Analysis  |  Commercial Aviation  |  </a:t>
            </a:r>
            <a:r>
              <a:rPr lang="en-US" sz="1400" b="1" dirty="0" err="1">
                <a:solidFill>
                  <a:srgbClr val="17324D"/>
                </a:solidFill>
                <a:latin typeface="Calibri" pitchFamily="34" charset="0"/>
                <a:ea typeface="Calibri" pitchFamily="34" charset="-122"/>
                <a:cs typeface="Calibri" pitchFamily="34" charset="-120"/>
              </a:rPr>
              <a:t>Pulindu</a:t>
            </a:r>
            <a:r>
              <a:rPr lang="en-US" sz="1400" b="1" dirty="0">
                <a:solidFill>
                  <a:srgbClr val="17324D"/>
                </a:solidFill>
                <a:latin typeface="Calibri" pitchFamily="34" charset="0"/>
                <a:ea typeface="Calibri" pitchFamily="34" charset="-122"/>
                <a:cs typeface="Calibri" pitchFamily="34" charset="-120"/>
              </a:rPr>
              <a:t> · Ayendri · </a:t>
            </a:r>
            <a:r>
              <a:rPr lang="en-US" sz="1400" b="1" dirty="0" err="1">
                <a:solidFill>
                  <a:srgbClr val="17324D"/>
                </a:solidFill>
                <a:latin typeface="Calibri" pitchFamily="34" charset="0"/>
                <a:ea typeface="Calibri" pitchFamily="34" charset="-122"/>
                <a:cs typeface="Calibri" pitchFamily="34" charset="-120"/>
              </a:rPr>
              <a:t>Nisalma</a:t>
            </a:r>
            <a:r>
              <a:rPr lang="en-US" sz="1400" b="1" dirty="0">
                <a:solidFill>
                  <a:srgbClr val="17324D"/>
                </a:solidFill>
                <a:latin typeface="Calibri" pitchFamily="34" charset="0"/>
                <a:ea typeface="Calibri" pitchFamily="34" charset="-122"/>
                <a:cs typeface="Calibri" pitchFamily="34" charset="-120"/>
              </a:rPr>
              <a:t> · </a:t>
            </a:r>
            <a:r>
              <a:rPr lang="en-US" sz="1400" b="1" dirty="0" err="1">
                <a:solidFill>
                  <a:srgbClr val="17324D"/>
                </a:solidFill>
                <a:latin typeface="Calibri" pitchFamily="34" charset="0"/>
                <a:ea typeface="Calibri" pitchFamily="34" charset="-122"/>
                <a:cs typeface="Calibri" pitchFamily="34" charset="-120"/>
              </a:rPr>
              <a:t>Vidu</a:t>
            </a:r>
            <a:r>
              <a:rPr lang="en-US" sz="1400" b="1" dirty="0">
                <a:solidFill>
                  <a:srgbClr val="17324D"/>
                </a:solidFill>
                <a:latin typeface="Calibri" pitchFamily="34" charset="0"/>
                <a:ea typeface="Calibri" pitchFamily="34" charset="-122"/>
                <a:cs typeface="Calibri" pitchFamily="34" charset="-120"/>
              </a:rPr>
              <a:t>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Presentation Flow</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Presentation Roadmap</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600" dirty="0">
                <a:solidFill>
                  <a:srgbClr val="4B5563"/>
                </a:solidFill>
                <a:latin typeface="Calibri" pitchFamily="34" charset="0"/>
                <a:ea typeface="Calibri" pitchFamily="34" charset="-122"/>
                <a:cs typeface="Calibri" pitchFamily="34" charset="-120"/>
              </a:rPr>
              <a:t>What the team will cover, from the problem to the final recommendations.</a:t>
            </a:r>
            <a:endParaRPr lang="en-US" sz="16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Industry problem and consultancy objectives</a:t>
            </a:r>
            <a:endParaRPr lang="en-US" dirty="0"/>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Dataset, analysis, modelling and evidence</a:t>
            </a:r>
            <a:endParaRPr lang="en-US" dirty="0"/>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Innovation proposal (decision support) and recommendations</a:t>
            </a:r>
            <a:endParaRPr lang="en-US" dirty="0"/>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Industry validation and viva readiness</a:t>
            </a:r>
            <a:endParaRPr lang="en-US" dirty="0"/>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11" name="Text 9"/>
          <p:cNvSpPr txBox="1"/>
          <p:nvPr/>
        </p:nvSpPr>
        <p:spPr>
          <a:xfrm>
            <a:off x="6309360" y="1920240"/>
            <a:ext cx="5212080" cy="1108710"/>
          </a:xfrm>
          <a:prstGeom prst="rect">
            <a:avLst/>
          </a:prstGeom>
          <a:noFill/>
          <a:ln/>
        </p:spPr>
        <p:txBody>
          <a:bodyPr wrap="square" lIns="0" tIns="0" rIns="0" bIns="0" rtlCol="0" anchor="b"/>
          <a:lstStyle/>
          <a:p>
            <a:pPr marL="0" indent="0" algn="ctr">
              <a:buNone/>
            </a:pPr>
            <a:r>
              <a:rPr lang="en-US" sz="4400" b="1" dirty="0">
                <a:solidFill>
                  <a:srgbClr val="2A9D8F"/>
                </a:solidFill>
                <a:latin typeface="Cambria" pitchFamily="34" charset="0"/>
                <a:ea typeface="Cambria" pitchFamily="34" charset="-122"/>
              </a:rPr>
              <a:t>15</a:t>
            </a:r>
            <a:endParaRPr lang="en-US" sz="4400" dirty="0"/>
          </a:p>
        </p:txBody>
      </p:sp>
      <p:sp>
        <p:nvSpPr>
          <p:cNvPr id="12" name="Text 10"/>
          <p:cNvSpPr txBox="1"/>
          <p:nvPr/>
        </p:nvSpPr>
        <p:spPr>
          <a:xfrm>
            <a:off x="6309360" y="302895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minutes</a:t>
            </a:r>
            <a:endParaRPr lang="en-US" sz="1500" dirty="0"/>
          </a:p>
        </p:txBody>
      </p:sp>
      <p:sp>
        <p:nvSpPr>
          <p:cNvPr id="13" name="Text 11"/>
          <p:cNvSpPr txBox="1"/>
          <p:nvPr/>
        </p:nvSpPr>
        <p:spPr>
          <a:xfrm>
            <a:off x="6309360" y="4137660"/>
            <a:ext cx="5212080" cy="1108710"/>
          </a:xfrm>
          <a:prstGeom prst="rect">
            <a:avLst/>
          </a:prstGeom>
          <a:noFill/>
          <a:ln/>
        </p:spPr>
        <p:txBody>
          <a:bodyPr wrap="square" lIns="0" tIns="0" rIns="0" bIns="0" rtlCol="0" anchor="b"/>
          <a:lstStyle/>
          <a:p>
            <a:pPr marL="0" indent="0" algn="ctr">
              <a:buNone/>
            </a:pPr>
            <a:r>
              <a:rPr lang="en-US" sz="4400" b="1" dirty="0">
                <a:solidFill>
                  <a:srgbClr val="E07B2A"/>
                </a:solidFill>
                <a:latin typeface="Cambria" pitchFamily="34" charset="0"/>
                <a:ea typeface="Cambria" pitchFamily="34" charset="-122"/>
                <a:cs typeface="Cambria" pitchFamily="34" charset="-120"/>
              </a:rPr>
              <a:t>12</a:t>
            </a:r>
            <a:endParaRPr lang="en-US" sz="4400" dirty="0"/>
          </a:p>
        </p:txBody>
      </p:sp>
      <p:sp>
        <p:nvSpPr>
          <p:cNvPr id="14" name="Text 12"/>
          <p:cNvSpPr txBox="1"/>
          <p:nvPr/>
        </p:nvSpPr>
        <p:spPr>
          <a:xfrm>
            <a:off x="6309360" y="524637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consultancy tasks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1</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02920" y="6400054"/>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Industry Problem &amp; Consultancy Objectives</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600" dirty="0">
                <a:solidFill>
                  <a:srgbClr val="4B5563"/>
                </a:solidFill>
                <a:latin typeface="Calibri" pitchFamily="34" charset="0"/>
                <a:ea typeface="Calibri" pitchFamily="34" charset="-122"/>
                <a:cs typeface="Calibri" pitchFamily="34" charset="-120"/>
              </a:rPr>
              <a:t>A post-flight survey exists, but it is unclear which services drive satisfaction.</a:t>
            </a:r>
            <a:endParaRPr lang="en-US" sz="1600" dirty="0"/>
          </a:p>
        </p:txBody>
      </p:sp>
      <p:sp>
        <p:nvSpPr>
          <p:cNvPr id="9" name="Text 7"/>
          <p:cNvSpPr txBox="1"/>
          <p:nvPr/>
        </p:nvSpPr>
        <p:spPr>
          <a:xfrm>
            <a:off x="713232" y="2065425"/>
            <a:ext cx="5120640" cy="4297680"/>
          </a:xfrm>
          <a:prstGeom prst="rect">
            <a:avLst/>
          </a:prstGeom>
          <a:noFill/>
          <a:ln/>
        </p:spPr>
        <p:txBody>
          <a:bodyPr wrap="square" lIns="0" tIns="0" rIns="0" bIns="0" rtlCol="0" anchor="t"/>
          <a:lstStyle/>
          <a:p>
            <a:pPr marL="342900" indent="-342900">
              <a:spcAft>
                <a:spcPts val="1400"/>
              </a:spcAft>
              <a:buSzPct val="100000"/>
              <a:buFont typeface="Wingdings" panose="05000000000000000000" pitchFamily="2" charset="2"/>
              <a:buChar char="§"/>
            </a:pPr>
            <a:r>
              <a:rPr lang="en-US" b="1" dirty="0">
                <a:solidFill>
                  <a:schemeClr val="tx1">
                    <a:lumMod val="95000"/>
                    <a:lumOff val="5000"/>
                  </a:schemeClr>
                </a:solidFill>
                <a:latin typeface="Calibri" pitchFamily="34" charset="0"/>
                <a:ea typeface="Calibri" pitchFamily="34" charset="-122"/>
                <a:cs typeface="Calibri" pitchFamily="34" charset="-120"/>
              </a:rPr>
              <a:t>Commercial aviation</a:t>
            </a:r>
            <a:r>
              <a:rPr lang="en-US" b="1" dirty="0">
                <a:solidFill>
                  <a:schemeClr val="tx2"/>
                </a:solidFill>
                <a:latin typeface="Calibri" pitchFamily="34" charset="0"/>
                <a:ea typeface="Calibri" pitchFamily="34" charset="-122"/>
                <a:cs typeface="Calibri" pitchFamily="34" charset="-120"/>
              </a:rPr>
              <a:t>:</a:t>
            </a:r>
            <a:r>
              <a:rPr lang="en-US" dirty="0">
                <a:solidFill>
                  <a:schemeClr val="tx2"/>
                </a:solidFill>
                <a:latin typeface="Calibri" pitchFamily="34" charset="0"/>
                <a:ea typeface="Calibri" pitchFamily="34" charset="-122"/>
                <a:cs typeface="Calibri" pitchFamily="34" charset="-120"/>
              </a:rPr>
              <a:t> post-flight survey of 129,880 passengers</a:t>
            </a:r>
            <a:endParaRPr lang="en-US" dirty="0">
              <a:solidFill>
                <a:schemeClr val="tx2"/>
              </a:solidFill>
            </a:endParaRPr>
          </a:p>
          <a:p>
            <a:pPr marL="342900" indent="-342900">
              <a:spcAft>
                <a:spcPts val="1400"/>
              </a:spcAft>
              <a:buSzPct val="100000"/>
              <a:buFont typeface="Wingdings" panose="05000000000000000000" pitchFamily="2" charset="2"/>
              <a:buChar char="§"/>
            </a:pPr>
            <a:r>
              <a:rPr lang="en-US" b="1" dirty="0">
                <a:solidFill>
                  <a:schemeClr val="tx1">
                    <a:lumMod val="95000"/>
                    <a:lumOff val="5000"/>
                  </a:schemeClr>
                </a:solidFill>
                <a:latin typeface="Calibri" pitchFamily="34" charset="0"/>
                <a:ea typeface="Calibri" pitchFamily="34" charset="-122"/>
                <a:cs typeface="Calibri" pitchFamily="34" charset="-120"/>
              </a:rPr>
              <a:t>Problem</a:t>
            </a:r>
            <a:r>
              <a:rPr lang="en-US" b="1" dirty="0">
                <a:solidFill>
                  <a:schemeClr val="tx2"/>
                </a:solidFill>
                <a:latin typeface="Calibri" pitchFamily="34" charset="0"/>
                <a:ea typeface="Calibri" pitchFamily="34" charset="-122"/>
                <a:cs typeface="Calibri" pitchFamily="34" charset="-120"/>
              </a:rPr>
              <a:t>:</a:t>
            </a:r>
            <a:r>
              <a:rPr lang="en-US" dirty="0">
                <a:solidFill>
                  <a:schemeClr val="tx2"/>
                </a:solidFill>
                <a:latin typeface="Calibri" pitchFamily="34" charset="0"/>
                <a:ea typeface="Calibri" pitchFamily="34" charset="-122"/>
                <a:cs typeface="Calibri" pitchFamily="34" charset="-120"/>
              </a:rPr>
              <a:t> the airline does not know which service areas are linked to satisfaction</a:t>
            </a:r>
            <a:endParaRPr lang="en-US" dirty="0">
              <a:solidFill>
                <a:schemeClr val="tx2"/>
              </a:solidFill>
            </a:endParaRPr>
          </a:p>
          <a:p>
            <a:pPr marL="342900" indent="-342900">
              <a:spcAft>
                <a:spcPts val="1400"/>
              </a:spcAft>
              <a:buSzPct val="100000"/>
              <a:buFont typeface="Wingdings" panose="05000000000000000000" pitchFamily="2" charset="2"/>
              <a:buChar char="§"/>
            </a:pPr>
            <a:r>
              <a:rPr lang="en-US" b="1" dirty="0">
                <a:solidFill>
                  <a:schemeClr val="tx1">
                    <a:lumMod val="95000"/>
                    <a:lumOff val="5000"/>
                  </a:schemeClr>
                </a:solidFill>
                <a:latin typeface="Calibri" pitchFamily="34" charset="0"/>
                <a:ea typeface="Calibri" pitchFamily="34" charset="-122"/>
                <a:cs typeface="Calibri" pitchFamily="34" charset="-120"/>
              </a:rPr>
              <a:t>Stakeholders:</a:t>
            </a:r>
            <a:r>
              <a:rPr lang="en-US" dirty="0">
                <a:solidFill>
                  <a:schemeClr val="tx2"/>
                </a:solidFill>
                <a:latin typeface="Calibri" pitchFamily="34" charset="0"/>
                <a:ea typeface="Calibri" pitchFamily="34" charset="-122"/>
                <a:cs typeface="Calibri" pitchFamily="34" charset="-120"/>
              </a:rPr>
              <a:t> management, customer experience, in-flight, airport operations, digital, marketing</a:t>
            </a:r>
          </a:p>
          <a:p>
            <a:pPr marL="342900" indent="-342900">
              <a:spcAft>
                <a:spcPts val="1400"/>
              </a:spcAft>
              <a:buSzPct val="100000"/>
              <a:buFont typeface="Wingdings" panose="05000000000000000000" pitchFamily="2" charset="2"/>
              <a:buChar char="§"/>
            </a:pPr>
            <a:r>
              <a:rPr lang="en-US" b="1" dirty="0">
                <a:solidFill>
                  <a:schemeClr val="tx1">
                    <a:lumMod val="95000"/>
                    <a:lumOff val="5000"/>
                  </a:schemeClr>
                </a:solidFill>
              </a:rPr>
              <a:t>Decisions influenced:</a:t>
            </a:r>
            <a:r>
              <a:rPr lang="en-US" dirty="0">
                <a:solidFill>
                  <a:schemeClr val="tx1">
                    <a:lumMod val="95000"/>
                    <a:lumOff val="5000"/>
                  </a:schemeClr>
                </a:solidFill>
              </a:rPr>
              <a:t> </a:t>
            </a:r>
            <a:r>
              <a:rPr lang="en-US" dirty="0">
                <a:solidFill>
                  <a:schemeClr val="tx2"/>
                </a:solidFill>
              </a:rPr>
              <a:t>which services to fix, which segments are weak, where to put budget.</a:t>
            </a:r>
          </a:p>
          <a:p>
            <a:pPr marL="285750" lvl="0" indent="-285750">
              <a:buFont typeface="Wingdings" panose="05000000000000000000" pitchFamily="2" charset="2"/>
              <a:buChar char="§"/>
            </a:pPr>
            <a:r>
              <a:rPr lang="en-US" b="1" dirty="0">
                <a:solidFill>
                  <a:schemeClr val="tx2"/>
                </a:solidFill>
                <a:latin typeface="Calibri" pitchFamily="34" charset="0"/>
                <a:ea typeface="Calibri" pitchFamily="34" charset="-122"/>
                <a:cs typeface="Calibri" pitchFamily="34" charset="-120"/>
              </a:rPr>
              <a:t> </a:t>
            </a:r>
            <a:r>
              <a:rPr lang="en-US" b="1" dirty="0">
                <a:solidFill>
                  <a:schemeClr val="tx1">
                    <a:lumMod val="95000"/>
                    <a:lumOff val="5000"/>
                  </a:schemeClr>
                </a:solidFill>
                <a:latin typeface="Calibri" pitchFamily="34" charset="0"/>
                <a:ea typeface="Calibri" pitchFamily="34" charset="-122"/>
                <a:cs typeface="Calibri" pitchFamily="34" charset="-120"/>
              </a:rPr>
              <a:t>Objectives:  </a:t>
            </a:r>
            <a:r>
              <a:rPr lang="en-US" dirty="0">
                <a:solidFill>
                  <a:schemeClr val="tx2"/>
                </a:solidFill>
              </a:rPr>
              <a:t>Find group differences.</a:t>
            </a:r>
          </a:p>
          <a:p>
            <a:pPr lvl="0"/>
            <a:r>
              <a:rPr lang="en-US" dirty="0">
                <a:solidFill>
                  <a:schemeClr val="tx2"/>
                </a:solidFill>
              </a:rPr>
              <a:t>                             Measure effect sizes.</a:t>
            </a:r>
          </a:p>
          <a:p>
            <a:pPr lvl="0"/>
            <a:r>
              <a:rPr lang="en-US" dirty="0">
                <a:solidFill>
                  <a:schemeClr val="tx2"/>
                </a:solidFill>
              </a:rPr>
              <a:t>                             Identify service drivers.</a:t>
            </a:r>
          </a:p>
          <a:p>
            <a:pPr lvl="0"/>
            <a:r>
              <a:rPr lang="en-US" dirty="0">
                <a:solidFill>
                  <a:schemeClr val="tx2"/>
                </a:solidFill>
              </a:rPr>
              <a:t>                             Build and compare logistic models</a:t>
            </a:r>
          </a:p>
          <a:p>
            <a:pPr marL="342900" indent="-342900">
              <a:spcAft>
                <a:spcPts val="1400"/>
              </a:spcAft>
              <a:buSzPct val="100000"/>
              <a:buChar char="•"/>
            </a:pPr>
            <a:endParaRPr lang="en-US" dirty="0">
              <a:solidFill>
                <a:schemeClr val="tx2"/>
              </a:solidFill>
            </a:endParaRP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11" name="Text 9"/>
          <p:cNvSpPr txBox="1"/>
          <p:nvPr/>
        </p:nvSpPr>
        <p:spPr>
          <a:xfrm>
            <a:off x="6309360" y="1920240"/>
            <a:ext cx="5212080" cy="1108710"/>
          </a:xfrm>
          <a:prstGeom prst="rect">
            <a:avLst/>
          </a:prstGeom>
          <a:noFill/>
          <a:ln/>
        </p:spPr>
        <p:txBody>
          <a:bodyPr wrap="square" lIns="0" tIns="0" rIns="0" bIns="0" rtlCol="0" anchor="b"/>
          <a:lstStyle/>
          <a:p>
            <a:pPr marL="0" indent="0" algn="ctr">
              <a:buNone/>
            </a:pPr>
            <a:r>
              <a:rPr lang="en-US" sz="4400" b="1" dirty="0">
                <a:solidFill>
                  <a:srgbClr val="2A9D8F"/>
                </a:solidFill>
                <a:latin typeface="Cambria" pitchFamily="34" charset="0"/>
                <a:ea typeface="Cambria" pitchFamily="34" charset="-122"/>
                <a:cs typeface="Cambria" pitchFamily="34" charset="-120"/>
              </a:rPr>
              <a:t>129,880</a:t>
            </a:r>
            <a:endParaRPr lang="en-US" sz="4400" dirty="0"/>
          </a:p>
        </p:txBody>
      </p:sp>
      <p:sp>
        <p:nvSpPr>
          <p:cNvPr id="12" name="Text 10"/>
          <p:cNvSpPr txBox="1"/>
          <p:nvPr/>
        </p:nvSpPr>
        <p:spPr>
          <a:xfrm>
            <a:off x="6309360" y="302895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passengers surveyed</a:t>
            </a:r>
            <a:endParaRPr lang="en-US" sz="1500" dirty="0"/>
          </a:p>
        </p:txBody>
      </p:sp>
      <p:sp>
        <p:nvSpPr>
          <p:cNvPr id="13" name="Text 11"/>
          <p:cNvSpPr txBox="1"/>
          <p:nvPr/>
        </p:nvSpPr>
        <p:spPr>
          <a:xfrm>
            <a:off x="6309360" y="4137660"/>
            <a:ext cx="5212080" cy="1108710"/>
          </a:xfrm>
          <a:prstGeom prst="rect">
            <a:avLst/>
          </a:prstGeom>
          <a:noFill/>
          <a:ln/>
        </p:spPr>
        <p:txBody>
          <a:bodyPr wrap="square" lIns="0" tIns="0" rIns="0" bIns="0" rtlCol="0" anchor="b"/>
          <a:lstStyle/>
          <a:p>
            <a:pPr marL="0" indent="0" algn="ctr">
              <a:buNone/>
            </a:pPr>
            <a:r>
              <a:rPr lang="en-US" sz="4400" b="1" dirty="0">
                <a:solidFill>
                  <a:srgbClr val="E07B2A"/>
                </a:solidFill>
                <a:latin typeface="Cambria" pitchFamily="34" charset="0"/>
                <a:ea typeface="Cambria" pitchFamily="34" charset="-122"/>
                <a:cs typeface="Cambria" pitchFamily="34" charset="-120"/>
              </a:rPr>
              <a:t>56.6%</a:t>
            </a:r>
            <a:endParaRPr lang="en-US" sz="4400" dirty="0"/>
          </a:p>
        </p:txBody>
      </p:sp>
      <p:sp>
        <p:nvSpPr>
          <p:cNvPr id="14" name="Text 12"/>
          <p:cNvSpPr txBox="1"/>
          <p:nvPr/>
        </p:nvSpPr>
        <p:spPr>
          <a:xfrm>
            <a:off x="6309360" y="524637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neutral or dissatisfied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2</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Research Landscape &amp; Research Gap</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600" dirty="0">
                <a:solidFill>
                  <a:srgbClr val="4B5563"/>
                </a:solidFill>
                <a:latin typeface="Calibri" pitchFamily="34" charset="0"/>
                <a:ea typeface="Calibri" pitchFamily="34" charset="-122"/>
                <a:cs typeface="Calibri" pitchFamily="34" charset="-120"/>
              </a:rPr>
              <a:t>Prior work stresses prediction accuracy; we add interpretation and action.</a:t>
            </a:r>
            <a:endParaRPr lang="en-US" sz="16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b="1" dirty="0">
                <a:solidFill>
                  <a:schemeClr val="tx1">
                    <a:lumMod val="95000"/>
                    <a:lumOff val="5000"/>
                  </a:schemeClr>
                </a:solidFill>
                <a:latin typeface="Calibri" pitchFamily="34" charset="0"/>
                <a:ea typeface="Calibri" pitchFamily="34" charset="-122"/>
                <a:cs typeface="Calibri" pitchFamily="34" charset="-120"/>
              </a:rPr>
              <a:t>Xue (2025): </a:t>
            </a:r>
            <a:r>
              <a:rPr lang="en-US" dirty="0">
                <a:solidFill>
                  <a:srgbClr val="17324D"/>
                </a:solidFill>
                <a:latin typeface="Calibri" pitchFamily="34" charset="0"/>
                <a:ea typeface="Calibri" pitchFamily="34" charset="-122"/>
                <a:cs typeface="Calibri" pitchFamily="34" charset="-120"/>
              </a:rPr>
              <a:t>random forest beat logistic regression on accuracy (92% vs 85%)</a:t>
            </a:r>
            <a:endParaRPr lang="en-US" dirty="0"/>
          </a:p>
          <a:p>
            <a:pPr marL="342900" indent="-342900">
              <a:spcAft>
                <a:spcPts val="1400"/>
              </a:spcAft>
              <a:buSzPct val="100000"/>
              <a:buChar char="•"/>
            </a:pPr>
            <a:r>
              <a:rPr lang="en-US" b="1" dirty="0">
                <a:solidFill>
                  <a:schemeClr val="tx1">
                    <a:lumMod val="95000"/>
                    <a:lumOff val="5000"/>
                  </a:schemeClr>
                </a:solidFill>
                <a:latin typeface="Calibri" pitchFamily="34" charset="0"/>
                <a:ea typeface="Calibri" pitchFamily="34" charset="-122"/>
                <a:cs typeface="Calibri" pitchFamily="34" charset="-120"/>
              </a:rPr>
              <a:t>Krirkchaiwan (thesis): </a:t>
            </a:r>
            <a:r>
              <a:rPr lang="en-US" dirty="0">
                <a:solidFill>
                  <a:srgbClr val="17324D"/>
                </a:solidFill>
                <a:latin typeface="Calibri" pitchFamily="34" charset="0"/>
                <a:ea typeface="Calibri" pitchFamily="34" charset="-122"/>
                <a:cs typeface="Calibri" pitchFamily="34" charset="-120"/>
              </a:rPr>
              <a:t>online boarding and in-flight Wi-Fi were the most significant factors, which our model also finds</a:t>
            </a:r>
            <a:endParaRPr lang="en-US" dirty="0"/>
          </a:p>
          <a:p>
            <a:pPr marL="342900" indent="-342900">
              <a:spcAft>
                <a:spcPts val="1400"/>
              </a:spcAft>
              <a:buSzPct val="100000"/>
              <a:buChar char="•"/>
            </a:pPr>
            <a:r>
              <a:rPr lang="en-US" b="1" dirty="0">
                <a:solidFill>
                  <a:schemeClr val="tx1">
                    <a:lumMod val="95000"/>
                    <a:lumOff val="5000"/>
                  </a:schemeClr>
                </a:solidFill>
                <a:latin typeface="Calibri" pitchFamily="34" charset="0"/>
                <a:ea typeface="Calibri" pitchFamily="34" charset="-122"/>
                <a:cs typeface="Calibri" pitchFamily="34" charset="-120"/>
              </a:rPr>
              <a:t>Gao et al. (2021): </a:t>
            </a:r>
            <a:r>
              <a:rPr lang="en-US" dirty="0">
                <a:solidFill>
                  <a:srgbClr val="17324D"/>
                </a:solidFill>
                <a:latin typeface="Calibri" pitchFamily="34" charset="0"/>
                <a:ea typeface="Calibri" pitchFamily="34" charset="-122"/>
                <a:cs typeface="Calibri" pitchFamily="34" charset="-120"/>
              </a:rPr>
              <a:t>service effects are nonlinear, with interactions between passenger traits and services</a:t>
            </a:r>
            <a:endParaRPr lang="en-US" dirty="0"/>
          </a:p>
          <a:p>
            <a:pPr>
              <a:spcAft>
                <a:spcPts val="1400"/>
              </a:spcAft>
              <a:buSzPct val="100000"/>
            </a:pPr>
            <a:endParaRPr lang="en-US" b="1" dirty="0">
              <a:solidFill>
                <a:schemeClr val="tx1">
                  <a:lumMod val="95000"/>
                  <a:lumOff val="5000"/>
                </a:schemeClr>
              </a:solidFill>
              <a:latin typeface="Calibri" pitchFamily="34" charset="0"/>
              <a:ea typeface="Calibri" pitchFamily="34" charset="-122"/>
              <a:cs typeface="Calibri" pitchFamily="34" charset="-120"/>
            </a:endParaRPr>
          </a:p>
          <a:p>
            <a:pPr>
              <a:spcAft>
                <a:spcPts val="1400"/>
              </a:spcAft>
              <a:buSzPct val="100000"/>
            </a:pPr>
            <a:r>
              <a:rPr lang="en-US" b="1" dirty="0">
                <a:solidFill>
                  <a:schemeClr val="tx1">
                    <a:lumMod val="95000"/>
                    <a:lumOff val="5000"/>
                  </a:schemeClr>
                </a:solidFill>
                <a:latin typeface="Calibri" pitchFamily="34" charset="0"/>
                <a:ea typeface="Calibri" pitchFamily="34" charset="-122"/>
                <a:cs typeface="Calibri" pitchFamily="34" charset="-120"/>
              </a:rPr>
              <a:t>Our gap:</a:t>
            </a:r>
          </a:p>
          <a:p>
            <a:pPr>
              <a:spcAft>
                <a:spcPts val="1400"/>
              </a:spcAft>
              <a:buSzPct val="100000"/>
            </a:pPr>
            <a:r>
              <a:rPr lang="en-US" sz="1600" dirty="0"/>
              <a:t>many studies chase prediction accuracy and skip explainable driver analysis. They often drop missing or zero-coded ratings, which is a leakage and preprocessing weakness.</a:t>
            </a:r>
          </a:p>
        </p:txBody>
      </p:sp>
      <p:sp>
        <p:nvSpPr>
          <p:cNvPr id="10" name="Shape 8"/>
          <p:cNvSpPr/>
          <p:nvPr/>
        </p:nvSpPr>
        <p:spPr>
          <a:xfrm>
            <a:off x="6126480" y="1783080"/>
            <a:ext cx="5376672" cy="2546324"/>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11" name="Text 9"/>
          <p:cNvSpPr txBox="1"/>
          <p:nvPr/>
        </p:nvSpPr>
        <p:spPr>
          <a:xfrm>
            <a:off x="6355080" y="1920240"/>
            <a:ext cx="5120640" cy="365760"/>
          </a:xfrm>
          <a:prstGeom prst="rect">
            <a:avLst/>
          </a:prstGeom>
          <a:noFill/>
          <a:ln/>
        </p:spPr>
        <p:txBody>
          <a:bodyPr wrap="square" lIns="0" tIns="0" rIns="0" bIns="0" rtlCol="0" anchor="ctr"/>
          <a:lstStyle/>
          <a:p>
            <a:pPr marL="0" indent="0">
              <a:buNone/>
            </a:pPr>
            <a:r>
              <a:rPr lang="en-US" sz="1600" b="1" dirty="0">
                <a:solidFill>
                  <a:srgbClr val="2A9D8F"/>
                </a:solidFill>
                <a:latin typeface="Calibri" pitchFamily="34" charset="0"/>
                <a:ea typeface="Calibri" pitchFamily="34" charset="-122"/>
                <a:cs typeface="Calibri" pitchFamily="34" charset="-120"/>
              </a:rPr>
              <a:t>Key literature</a:t>
            </a:r>
            <a:endParaRPr lang="en-US" sz="1600" dirty="0"/>
          </a:p>
        </p:txBody>
      </p:sp>
      <p:sp>
        <p:nvSpPr>
          <p:cNvPr id="12" name="Text 10"/>
          <p:cNvSpPr txBox="1"/>
          <p:nvPr/>
        </p:nvSpPr>
        <p:spPr>
          <a:xfrm>
            <a:off x="6355080" y="2377440"/>
            <a:ext cx="5028267" cy="1951964"/>
          </a:xfrm>
          <a:prstGeom prst="rect">
            <a:avLst/>
          </a:prstGeom>
          <a:noFill/>
          <a:ln/>
        </p:spPr>
        <p:txBody>
          <a:bodyPr wrap="square" lIns="0" tIns="0" rIns="0" bIns="0" rtlCol="0" anchor="t"/>
          <a:lstStyle/>
          <a:p>
            <a:r>
              <a:rPr sz="1050" dirty="0">
                <a:solidFill>
                  <a:srgbClr val="17324D"/>
                </a:solidFill>
                <a:latin typeface="Calibri"/>
              </a:rPr>
              <a:t>Gao, K., Yang, Y., &amp; Qu, X. (2021). Examining nonlinear and interaction effects of multiple determinants on airline travel satisfaction. Transportation Research Part D: Transport and Environment, 97, 102957. https://doi.org/10.1016/j.trd.2021.102957</a:t>
            </a:r>
          </a:p>
          <a:p>
            <a:endParaRPr sz="1050" dirty="0">
              <a:solidFill>
                <a:srgbClr val="17324D"/>
              </a:solidFill>
              <a:latin typeface="Calibri"/>
            </a:endParaRPr>
          </a:p>
          <a:p>
            <a:r>
              <a:rPr sz="1050" dirty="0">
                <a:solidFill>
                  <a:srgbClr val="17324D"/>
                </a:solidFill>
                <a:latin typeface="Calibri"/>
              </a:rPr>
              <a:t>Xue, J. (2025). Airline passenger satisfaction prediction and key influential factors identification based on logistic regression and random forest. Proceedings of IAMPA 2025, 610–614. </a:t>
            </a:r>
            <a:r>
              <a:rPr lang="en-US" sz="1050" dirty="0">
                <a:solidFill>
                  <a:srgbClr val="17324D"/>
                </a:solidFill>
                <a:latin typeface="Calibri"/>
              </a:rPr>
              <a:t> </a:t>
            </a:r>
            <a:r>
              <a:rPr sz="1050" dirty="0">
                <a:solidFill>
                  <a:srgbClr val="17324D"/>
                </a:solidFill>
                <a:latin typeface="Calibri"/>
              </a:rPr>
              <a:t>https://doi.org/10.5220/0013834200004708</a:t>
            </a:r>
          </a:p>
          <a:p>
            <a:endParaRPr sz="1050" dirty="0">
              <a:solidFill>
                <a:srgbClr val="17324D"/>
              </a:solidFill>
              <a:latin typeface="Calibri"/>
            </a:endParaRPr>
          </a:p>
          <a:p>
            <a:r>
              <a:rPr sz="1050" dirty="0" err="1">
                <a:solidFill>
                  <a:srgbClr val="17324D"/>
                </a:solidFill>
                <a:latin typeface="Calibri"/>
              </a:rPr>
              <a:t>Krirkchaiwan</a:t>
            </a:r>
            <a:r>
              <a:rPr sz="1050" dirty="0">
                <a:solidFill>
                  <a:srgbClr val="17324D"/>
                </a:solidFill>
                <a:latin typeface="Calibri"/>
              </a:rPr>
              <a:t>, P. (2024). A study of airline passenger segmentation based on satisfaction evaluation using data science techniques [Master’s project, </a:t>
            </a:r>
            <a:r>
              <a:rPr sz="1050" dirty="0" err="1">
                <a:solidFill>
                  <a:srgbClr val="17324D"/>
                </a:solidFill>
                <a:latin typeface="Calibri"/>
              </a:rPr>
              <a:t>Srinakharinwirot</a:t>
            </a:r>
            <a:r>
              <a:rPr sz="1050" dirty="0">
                <a:solidFill>
                  <a:srgbClr val="17324D"/>
                </a:solidFill>
                <a:latin typeface="Calibri"/>
              </a:rPr>
              <a:t> University].</a:t>
            </a:r>
            <a:endParaRPr lang="en-US" sz="1050" dirty="0">
              <a:solidFill>
                <a:srgbClr val="17324D"/>
              </a:solidFill>
              <a:latin typeface="Calibri"/>
            </a:endParaRPr>
          </a:p>
          <a:p>
            <a:r>
              <a:rPr lang="en-US" sz="1050" b="0" i="0" u="none" strike="noStrike" dirty="0">
                <a:solidFill>
                  <a:srgbClr val="1E6F90"/>
                </a:solidFill>
                <a:effectLst/>
                <a:latin typeface="Nunito" pitchFamily="2" charset="0"/>
                <a:hlinkClick r:id="rId3"/>
              </a:rPr>
              <a:t>https://ir-ithesis.swu.ac.th/handle/123456789/3138</a:t>
            </a:r>
            <a:endParaRPr sz="1050" dirty="0">
              <a:solidFill>
                <a:srgbClr val="17324D"/>
              </a:solidFill>
              <a:latin typeface="Calibri"/>
            </a:endParaRPr>
          </a:p>
        </p:txBody>
      </p:sp>
      <p:sp>
        <p:nvSpPr>
          <p:cNvPr id="16" name="TextBox 15">
            <a:extLst>
              <a:ext uri="{FF2B5EF4-FFF2-40B4-BE49-F238E27FC236}">
                <a16:creationId xmlns:a16="http://schemas.microsoft.com/office/drawing/2014/main" id="{8F278088-47EC-26BD-1AE2-C30D1F9CB47C}"/>
              </a:ext>
            </a:extLst>
          </p:cNvPr>
          <p:cNvSpPr txBox="1"/>
          <p:nvPr/>
        </p:nvSpPr>
        <p:spPr>
          <a:xfrm>
            <a:off x="6984335" y="4987707"/>
            <a:ext cx="5120641" cy="1138773"/>
          </a:xfrm>
          <a:prstGeom prst="rect">
            <a:avLst/>
          </a:prstGeom>
          <a:noFill/>
        </p:spPr>
        <p:txBody>
          <a:bodyPr wrap="square">
            <a:spAutoFit/>
          </a:bodyPr>
          <a:lstStyle/>
          <a:p>
            <a:r>
              <a:rPr lang="en-US" b="1" dirty="0"/>
              <a:t>Our approach:</a:t>
            </a:r>
            <a:r>
              <a:rPr lang="en-US" dirty="0"/>
              <a:t> </a:t>
            </a:r>
          </a:p>
          <a:p>
            <a:endParaRPr lang="en-US" dirty="0"/>
          </a:p>
          <a:p>
            <a:r>
              <a:rPr lang="en-US" sz="1600" dirty="0"/>
              <a:t>train-only preprocessing, N/A flags, effect sizes, model comparison and a decision tool.</a:t>
            </a:r>
          </a:p>
        </p:txBody>
      </p:sp>
      <p:sp>
        <p:nvSpPr>
          <p:cNvPr id="17" name="Rectangle: Rounded Corners 16">
            <a:extLst>
              <a:ext uri="{FF2B5EF4-FFF2-40B4-BE49-F238E27FC236}">
                <a16:creationId xmlns:a16="http://schemas.microsoft.com/office/drawing/2014/main" id="{B09D62B2-891E-3EB4-472D-D6B39D02258F}"/>
              </a:ext>
            </a:extLst>
          </p:cNvPr>
          <p:cNvSpPr/>
          <p:nvPr/>
        </p:nvSpPr>
        <p:spPr>
          <a:xfrm>
            <a:off x="544440" y="4896892"/>
            <a:ext cx="5403359" cy="1494764"/>
          </a:xfrm>
          <a:prstGeom prst="roundRect">
            <a:avLst/>
          </a:prstGeom>
          <a:solidFill>
            <a:schemeClr val="accent1">
              <a:lumMod val="40000"/>
              <a:lumOff val="60000"/>
              <a:alpha val="4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A587599E-B033-EF3A-D7CA-24584253EAA6}"/>
              </a:ext>
            </a:extLst>
          </p:cNvPr>
          <p:cNvSpPr/>
          <p:nvPr/>
        </p:nvSpPr>
        <p:spPr>
          <a:xfrm>
            <a:off x="6797268" y="4896892"/>
            <a:ext cx="5193045" cy="1494764"/>
          </a:xfrm>
          <a:prstGeom prst="roundRect">
            <a:avLst/>
          </a:prstGeom>
          <a:solidFill>
            <a:schemeClr val="accent1">
              <a:lumMod val="40000"/>
              <a:lumOff val="60000"/>
              <a:alpha val="4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3</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Dataset Selection &amp; Understanding</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dirty="0">
                <a:solidFill>
                  <a:srgbClr val="4B5563"/>
                </a:solidFill>
                <a:latin typeface="Calibri" pitchFamily="34" charset="0"/>
                <a:ea typeface="Calibri" pitchFamily="34" charset="-122"/>
                <a:cs typeface="Calibri" pitchFamily="34" charset="-120"/>
              </a:rPr>
              <a:t>Public airline passenger survey, one row per passenger.</a:t>
            </a:r>
          </a:p>
          <a:p>
            <a:pPr marL="0" indent="0">
              <a:buNone/>
            </a:pPr>
            <a:endParaRPr lang="en-US" dirty="0"/>
          </a:p>
        </p:txBody>
      </p:sp>
      <p:sp>
        <p:nvSpPr>
          <p:cNvPr id="9" name="Text 7"/>
          <p:cNvSpPr txBox="1"/>
          <p:nvPr/>
        </p:nvSpPr>
        <p:spPr>
          <a:xfrm>
            <a:off x="685800" y="219456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2"/>
                </a:solidFill>
                <a:latin typeface="Calibri" pitchFamily="34" charset="0"/>
                <a:ea typeface="Calibri" pitchFamily="34" charset="-122"/>
                <a:cs typeface="Calibri" pitchFamily="34" charset="-120"/>
              </a:rPr>
              <a:t>129,880 passengers, 24 columns: ID, demographics, trip details, 14 service ratings, delays</a:t>
            </a:r>
            <a:endParaRPr lang="en-US" sz="1600" dirty="0">
              <a:solidFill>
                <a:schemeClr val="tx2"/>
              </a:solidFill>
            </a:endParaRPr>
          </a:p>
          <a:p>
            <a:pPr marL="342900" indent="-342900">
              <a:spcAft>
                <a:spcPts val="1400"/>
              </a:spcAft>
              <a:buSzPct val="100000"/>
              <a:buChar char="•"/>
            </a:pPr>
            <a:r>
              <a:rPr lang="en-US" sz="1600" b="1" dirty="0">
                <a:latin typeface="Calibri" pitchFamily="34" charset="0"/>
                <a:ea typeface="Calibri" pitchFamily="34" charset="-122"/>
                <a:cs typeface="Calibri" pitchFamily="34" charset="-120"/>
              </a:rPr>
              <a:t>Target: </a:t>
            </a:r>
            <a:r>
              <a:rPr lang="en-US" sz="1600" dirty="0">
                <a:solidFill>
                  <a:schemeClr val="tx2"/>
                </a:solidFill>
                <a:latin typeface="Calibri" pitchFamily="34" charset="0"/>
                <a:ea typeface="Calibri" pitchFamily="34" charset="-122"/>
                <a:cs typeface="Calibri" pitchFamily="34" charset="-120"/>
              </a:rPr>
              <a:t>Satisfied (43.4%) vs Neutral/Dissatisfied (56.6%)</a:t>
            </a:r>
            <a:endParaRPr lang="en-US" sz="1600" dirty="0">
              <a:solidFill>
                <a:schemeClr val="tx2"/>
              </a:solidFill>
            </a:endParaRPr>
          </a:p>
          <a:p>
            <a:pPr marL="342900" indent="-342900">
              <a:spcAft>
                <a:spcPts val="1400"/>
              </a:spcAft>
              <a:buSzPct val="100000"/>
              <a:buChar char="•"/>
            </a:pPr>
            <a:r>
              <a:rPr lang="en-US" sz="1600" b="1" dirty="0">
                <a:latin typeface="Calibri" pitchFamily="34" charset="0"/>
                <a:ea typeface="Calibri" pitchFamily="34" charset="-122"/>
                <a:cs typeface="Calibri" pitchFamily="34" charset="-120"/>
              </a:rPr>
              <a:t>Quality</a:t>
            </a:r>
            <a:r>
              <a:rPr lang="en-US" sz="1600" dirty="0">
                <a:solidFill>
                  <a:schemeClr val="tx2"/>
                </a:solidFill>
                <a:latin typeface="Calibri" pitchFamily="34" charset="0"/>
                <a:ea typeface="Calibri" pitchFamily="34" charset="-122"/>
                <a:cs typeface="Calibri" pitchFamily="34" charset="-120"/>
              </a:rPr>
              <a:t>: 0 ratings treated as N/A and flagged; 393 missing arrival delays imputed; no duplicate passengers</a:t>
            </a:r>
          </a:p>
          <a:p>
            <a:pPr marL="342900" indent="-342900">
              <a:spcAft>
                <a:spcPts val="1400"/>
              </a:spcAft>
              <a:buSzPct val="100000"/>
              <a:buChar char="•"/>
            </a:pPr>
            <a:r>
              <a:rPr lang="en-US" sz="1600" b="1" dirty="0"/>
              <a:t>Missing: </a:t>
            </a:r>
            <a:r>
              <a:rPr lang="en-US" sz="1600" dirty="0">
                <a:solidFill>
                  <a:schemeClr val="tx2"/>
                </a:solidFill>
              </a:rPr>
              <a:t>about 393 values (reported as 310 in train plus 83 in test in the original split)</a:t>
            </a:r>
          </a:p>
          <a:p>
            <a:pPr marL="342900" indent="-342900">
              <a:spcAft>
                <a:spcPts val="1400"/>
              </a:spcAft>
              <a:buSzPct val="100000"/>
              <a:buChar char="•"/>
            </a:pPr>
            <a:r>
              <a:rPr lang="en-US" sz="1600" dirty="0">
                <a:solidFill>
                  <a:schemeClr val="tx2"/>
                </a:solidFill>
                <a:latin typeface="Calibri" pitchFamily="34" charset="0"/>
                <a:ea typeface="Calibri" pitchFamily="34" charset="-122"/>
                <a:cs typeface="Calibri" pitchFamily="34" charset="-120"/>
              </a:rPr>
              <a:t>Service ratings are actionable levers, so the data supports business decisions</a:t>
            </a:r>
          </a:p>
          <a:p>
            <a:pPr marL="342900" indent="-342900">
              <a:spcAft>
                <a:spcPts val="1400"/>
              </a:spcAft>
              <a:buSzPct val="100000"/>
              <a:buChar char="•"/>
            </a:pPr>
            <a:r>
              <a:rPr lang="en-US" sz="1600" b="1" dirty="0"/>
              <a:t>Why it suits the problem</a:t>
            </a:r>
            <a:r>
              <a:rPr lang="en-US" sz="1600" b="1" dirty="0">
                <a:solidFill>
                  <a:schemeClr val="tx2"/>
                </a:solidFill>
              </a:rPr>
              <a:t>:</a:t>
            </a:r>
            <a:r>
              <a:rPr lang="en-US" sz="1600" dirty="0">
                <a:solidFill>
                  <a:schemeClr val="tx2"/>
                </a:solidFill>
              </a:rPr>
              <a:t> large n, a mix of rating, categorical and numeric variables, a binary target, and decisions that map directly to services.</a:t>
            </a: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6">
            <a:extLst>
              <a:ext uri="{FF2B5EF4-FFF2-40B4-BE49-F238E27FC236}">
                <a16:creationId xmlns:a16="http://schemas.microsoft.com/office/drawing/2014/main" id="{8F50FA22-2E11-7422-692D-4E290EF087C1}"/>
              </a:ext>
            </a:extLst>
          </p:cNvPr>
          <p:cNvSpPr txBox="1"/>
          <p:nvPr/>
        </p:nvSpPr>
        <p:spPr>
          <a:xfrm>
            <a:off x="713232" y="1417320"/>
            <a:ext cx="7014132" cy="320040"/>
          </a:xfrm>
          <a:prstGeom prst="rect">
            <a:avLst/>
          </a:prstGeom>
          <a:noFill/>
          <a:ln/>
        </p:spPr>
        <p:txBody>
          <a:bodyPr wrap="square" lIns="0" tIns="0" rIns="0" bIns="0" rtlCol="0" anchor="ctr"/>
          <a:lstStyle/>
          <a:p>
            <a:r>
              <a:rPr lang="en-US" sz="1400" u="sng" dirty="0">
                <a:solidFill>
                  <a:schemeClr val="accent1"/>
                </a:solidFill>
                <a:latin typeface="Calibri" pitchFamily="34" charset="0"/>
                <a:ea typeface="Calibri" pitchFamily="34" charset="-122"/>
                <a:cs typeface="Calibri" pitchFamily="34" charset="-120"/>
                <a:hlinkClick r:id="rId4"/>
              </a:rPr>
              <a:t>https://www.kaggle.com/datasets/sjleshrac/airlines-customer-satisfaction</a:t>
            </a:r>
            <a:endParaRPr lang="en-US" sz="1400" u="sng"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F"/>
        </a:solidFill>
        <a:effectLst/>
      </p:bgPr>
    </p:bg>
    <p:spTree>
      <p:nvGrpSpPr>
        <p:cNvPr id="1" name=""/>
        <p:cNvGrpSpPr/>
        <p:nvPr/>
      </p:nvGrpSpPr>
      <p:grpSpPr>
        <a:xfrm>
          <a:off x="0" y="0"/>
          <a:ext cx="0" cy="0"/>
          <a:chOff x="0" y="0"/>
          <a:chExt cx="0" cy="0"/>
        </a:xfrm>
      </p:grpSpPr>
      <p:sp>
        <p:nvSpPr>
          <p:cNvPr id="10" name="Shape 8"/>
          <p:cNvSpPr/>
          <p:nvPr/>
        </p:nvSpPr>
        <p:spPr>
          <a:xfrm>
            <a:off x="6126480" y="320227"/>
            <a:ext cx="5577840" cy="6547104"/>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3</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Descriptive Analysis &amp; Initial Insights</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600" dirty="0">
                <a:solidFill>
                  <a:srgbClr val="4B5563"/>
                </a:solidFill>
                <a:latin typeface="Calibri" pitchFamily="34" charset="0"/>
                <a:ea typeface="Calibri" pitchFamily="34" charset="-122"/>
                <a:cs typeface="Calibri" pitchFamily="34" charset="-120"/>
              </a:rPr>
              <a:t>Satisfaction differs sharply by class, travel purpose and loyalty.</a:t>
            </a:r>
            <a:endParaRPr lang="en-US" sz="1600" dirty="0"/>
          </a:p>
        </p:txBody>
      </p:sp>
      <p:sp>
        <p:nvSpPr>
          <p:cNvPr id="9" name="Text 7"/>
          <p:cNvSpPr txBox="1"/>
          <p:nvPr/>
        </p:nvSpPr>
        <p:spPr>
          <a:xfrm>
            <a:off x="1390427" y="1874520"/>
            <a:ext cx="4736053" cy="2688067"/>
          </a:xfrm>
          <a:prstGeom prst="rect">
            <a:avLst/>
          </a:prstGeom>
          <a:noFill/>
          <a:ln/>
        </p:spPr>
        <p:txBody>
          <a:bodyPr wrap="square" lIns="0" tIns="0" rIns="0" bIns="0" rtlCol="0" anchor="t"/>
          <a:lstStyle/>
          <a:p>
            <a:pPr marL="285750" lvl="0" indent="-285750">
              <a:buFont typeface="Wingdings" panose="05000000000000000000" pitchFamily="2" charset="2"/>
              <a:buChar char="§"/>
            </a:pPr>
            <a:r>
              <a:rPr lang="en-US" b="1" dirty="0"/>
              <a:t>Passenger class</a:t>
            </a:r>
            <a:r>
              <a:rPr lang="en-US" dirty="0"/>
              <a:t> </a:t>
            </a:r>
          </a:p>
          <a:p>
            <a:pPr lvl="1"/>
            <a:r>
              <a:rPr lang="en-US" sz="1400" dirty="0"/>
              <a:t>Business     :   </a:t>
            </a:r>
            <a:r>
              <a:rPr lang="en-US" sz="1400" b="1" dirty="0"/>
              <a:t>69%</a:t>
            </a:r>
            <a:r>
              <a:rPr lang="en-US" sz="1400" dirty="0"/>
              <a:t> satisfied</a:t>
            </a:r>
          </a:p>
          <a:p>
            <a:pPr lvl="1"/>
            <a:r>
              <a:rPr lang="en-US" sz="1400" dirty="0"/>
              <a:t>Economy    :  </a:t>
            </a:r>
            <a:r>
              <a:rPr lang="en-US" sz="1400" b="1" dirty="0"/>
              <a:t>19%</a:t>
            </a:r>
            <a:r>
              <a:rPr lang="en-US" sz="1400" dirty="0"/>
              <a:t> satisfied</a:t>
            </a:r>
          </a:p>
          <a:p>
            <a:pPr lvl="1"/>
            <a:r>
              <a:rPr lang="en-US" sz="1400" dirty="0"/>
              <a:t>Gap    :  50 points</a:t>
            </a:r>
          </a:p>
          <a:p>
            <a:pPr lvl="1"/>
            <a:endParaRPr lang="en-US" sz="1400" dirty="0"/>
          </a:p>
          <a:p>
            <a:pPr marL="285750" lvl="0" indent="-285750">
              <a:buFont typeface="Wingdings" panose="05000000000000000000" pitchFamily="2" charset="2"/>
              <a:buChar char="§"/>
            </a:pPr>
            <a:r>
              <a:rPr lang="en-US" b="1" dirty="0"/>
              <a:t>Type of travel</a:t>
            </a:r>
            <a:r>
              <a:rPr lang="en-US" dirty="0"/>
              <a:t> </a:t>
            </a:r>
          </a:p>
          <a:p>
            <a:pPr lvl="1"/>
            <a:r>
              <a:rPr lang="en-US" sz="1400" dirty="0"/>
              <a:t>Business travel   :  </a:t>
            </a:r>
            <a:r>
              <a:rPr lang="en-US" sz="1400" b="1" dirty="0"/>
              <a:t>58%</a:t>
            </a:r>
            <a:r>
              <a:rPr lang="en-US" sz="1400" dirty="0"/>
              <a:t> satisfied</a:t>
            </a:r>
          </a:p>
          <a:p>
            <a:pPr lvl="1"/>
            <a:r>
              <a:rPr lang="en-US" sz="1400" dirty="0"/>
              <a:t>Personal travel    : </a:t>
            </a:r>
            <a:r>
              <a:rPr lang="en-US" sz="1400" b="1" dirty="0"/>
              <a:t>10%</a:t>
            </a:r>
            <a:r>
              <a:rPr lang="en-US" sz="1400" dirty="0"/>
              <a:t> satisfied</a:t>
            </a:r>
          </a:p>
          <a:p>
            <a:pPr lvl="1"/>
            <a:r>
              <a:rPr lang="en-US" sz="1400" dirty="0"/>
              <a:t>Gap  : 48 points</a:t>
            </a:r>
          </a:p>
          <a:p>
            <a:pPr lvl="1"/>
            <a:endParaRPr lang="en-US" sz="1400" dirty="0"/>
          </a:p>
          <a:p>
            <a:pPr marL="285750" lvl="0" indent="-285750">
              <a:buFont typeface="Wingdings" panose="05000000000000000000" pitchFamily="2" charset="2"/>
              <a:buChar char="§"/>
            </a:pPr>
            <a:r>
              <a:rPr lang="en-US" b="1" dirty="0"/>
              <a:t>Customer type</a:t>
            </a:r>
            <a:r>
              <a:rPr lang="en-US" dirty="0"/>
              <a:t> </a:t>
            </a:r>
          </a:p>
          <a:p>
            <a:pPr lvl="1"/>
            <a:r>
              <a:rPr lang="en-US" sz="1400" dirty="0"/>
              <a:t>Returning customers  :  </a:t>
            </a:r>
            <a:r>
              <a:rPr lang="en-US" sz="1400" b="1" dirty="0"/>
              <a:t>48%</a:t>
            </a:r>
            <a:r>
              <a:rPr lang="en-US" sz="1400" dirty="0"/>
              <a:t> satisfied</a:t>
            </a:r>
          </a:p>
          <a:p>
            <a:pPr lvl="1"/>
            <a:r>
              <a:rPr lang="en-US" sz="1400" dirty="0"/>
              <a:t>First-time customers   :  </a:t>
            </a:r>
            <a:r>
              <a:rPr lang="en-US" sz="1400" b="1" dirty="0"/>
              <a:t>24%</a:t>
            </a:r>
            <a:r>
              <a:rPr lang="en-US" sz="1400" dirty="0"/>
              <a:t> satisfied</a:t>
            </a:r>
          </a:p>
          <a:p>
            <a:pPr lvl="1"/>
            <a:r>
              <a:rPr lang="en-US" sz="1400" dirty="0"/>
              <a:t>Returning customers are twice as satisfied</a:t>
            </a:r>
          </a:p>
          <a:p>
            <a:pPr lvl="1"/>
            <a:endParaRPr lang="en-US" sz="1400" dirty="0"/>
          </a:p>
          <a:p>
            <a:pPr marL="285750" lvl="0" indent="-285750">
              <a:buFont typeface="Wingdings" panose="05000000000000000000" pitchFamily="2" charset="2"/>
              <a:buChar char="§"/>
            </a:pPr>
            <a:r>
              <a:rPr lang="en-US" b="1" dirty="0"/>
              <a:t>Departure delay</a:t>
            </a:r>
            <a:r>
              <a:rPr lang="en-US" dirty="0"/>
              <a:t> </a:t>
            </a:r>
          </a:p>
          <a:p>
            <a:pPr lvl="1"/>
            <a:r>
              <a:rPr lang="en-US" sz="1400" dirty="0"/>
              <a:t>On time    : </a:t>
            </a:r>
            <a:r>
              <a:rPr lang="en-US" sz="1400" b="1" dirty="0"/>
              <a:t>46%</a:t>
            </a:r>
            <a:r>
              <a:rPr lang="en-US" sz="1400" dirty="0"/>
              <a:t> satisfied</a:t>
            </a:r>
          </a:p>
          <a:p>
            <a:pPr lvl="1"/>
            <a:r>
              <a:rPr lang="en-US" sz="1400" dirty="0"/>
              <a:t>Over 60 min  : </a:t>
            </a:r>
            <a:r>
              <a:rPr lang="en-US" sz="1400" b="1" dirty="0"/>
              <a:t>36%</a:t>
            </a:r>
            <a:r>
              <a:rPr lang="en-US" sz="1400" dirty="0"/>
              <a:t> satisfied</a:t>
            </a:r>
          </a:p>
          <a:p>
            <a:pPr lvl="1"/>
            <a:r>
              <a:rPr lang="en-US" sz="1400" dirty="0"/>
              <a:t>Gap   : 10 points</a:t>
            </a:r>
          </a:p>
        </p:txBody>
      </p:sp>
      <p:graphicFrame>
        <p:nvGraphicFramePr>
          <p:cNvPr id="11" name="Chart 0"/>
          <p:cNvGraphicFramePr/>
          <p:nvPr>
            <p:extLst>
              <p:ext uri="{D42A27DB-BD31-4B8C-83A1-F6EECF244321}">
                <p14:modId xmlns:p14="http://schemas.microsoft.com/office/powerpoint/2010/main" val="1769938943"/>
              </p:ext>
            </p:extLst>
          </p:nvPr>
        </p:nvGraphicFramePr>
        <p:xfrm>
          <a:off x="6690048" y="1581912"/>
          <a:ext cx="4465631" cy="362102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4</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Statistical Inference Evidence</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600" dirty="0">
                <a:solidFill>
                  <a:srgbClr val="4B5563"/>
                </a:solidFill>
                <a:latin typeface="Calibri" pitchFamily="34" charset="0"/>
                <a:ea typeface="Calibri" pitchFamily="34" charset="-122"/>
                <a:cs typeface="Calibri" pitchFamily="34" charset="-120"/>
              </a:rPr>
              <a:t>Chi-square, t-tests and ANOVA confirm the segment gaps (training split).</a:t>
            </a:r>
            <a:endParaRPr lang="en-US" sz="16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endParaRPr lang="en-US" sz="1600" dirty="0"/>
          </a:p>
        </p:txBody>
      </p:sp>
      <p:sp>
        <p:nvSpPr>
          <p:cNvPr id="10" name="Shape 8"/>
          <p:cNvSpPr/>
          <p:nvPr/>
        </p:nvSpPr>
        <p:spPr>
          <a:xfrm>
            <a:off x="7034411" y="440080"/>
            <a:ext cx="4654669" cy="5689907"/>
          </a:xfrm>
          <a:prstGeom prst="roundRect">
            <a:avLst>
              <a:gd name="adj" fmla="val 1649"/>
            </a:avLst>
          </a:prstGeom>
          <a:solidFill>
            <a:srgbClr val="FFFFFF"/>
          </a:solidFill>
          <a:ln w="12700">
            <a:solidFill>
              <a:srgbClr val="D9E6E3"/>
            </a:solidFill>
            <a:prstDash val="solid"/>
          </a:ln>
        </p:spPr>
        <p:txBody>
          <a:bodyPr/>
          <a:lstStyle/>
          <a:p>
            <a:r>
              <a:rPr lang="en-US" sz="1200" dirty="0">
                <a:solidFill>
                  <a:srgbClr val="17324D"/>
                </a:solidFill>
              </a:rPr>
              <a:t>                          Strength of association with satisfaction (Cramer's V</a:t>
            </a:r>
          </a:p>
        </p:txBody>
      </p:sp>
      <p:graphicFrame>
        <p:nvGraphicFramePr>
          <p:cNvPr id="11" name="Chart 0"/>
          <p:cNvGraphicFramePr/>
          <p:nvPr>
            <p:extLst>
              <p:ext uri="{D42A27DB-BD31-4B8C-83A1-F6EECF244321}">
                <p14:modId xmlns:p14="http://schemas.microsoft.com/office/powerpoint/2010/main" val="902699861"/>
              </p:ext>
            </p:extLst>
          </p:nvPr>
        </p:nvGraphicFramePr>
        <p:xfrm>
          <a:off x="7629973" y="868680"/>
          <a:ext cx="3710630" cy="21909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E205A6B1-0A9D-9CEB-4A5C-6CD359D5E9FD}"/>
              </a:ext>
            </a:extLst>
          </p:cNvPr>
          <p:cNvGraphicFramePr>
            <a:graphicFrameLocks noGrp="1"/>
          </p:cNvGraphicFramePr>
          <p:nvPr>
            <p:extLst>
              <p:ext uri="{D42A27DB-BD31-4B8C-83A1-F6EECF244321}">
                <p14:modId xmlns:p14="http://schemas.microsoft.com/office/powerpoint/2010/main" val="2594620965"/>
              </p:ext>
            </p:extLst>
          </p:nvPr>
        </p:nvGraphicFramePr>
        <p:xfrm>
          <a:off x="365760" y="1546269"/>
          <a:ext cx="6336418" cy="4620245"/>
        </p:xfrm>
        <a:graphic>
          <a:graphicData uri="http://schemas.openxmlformats.org/drawingml/2006/table">
            <a:tbl>
              <a:tblPr>
                <a:tableStyleId>{5C22544A-7EE6-4342-B048-85BDC9FD1C3A}</a:tableStyleId>
              </a:tblPr>
              <a:tblGrid>
                <a:gridCol w="2586570">
                  <a:extLst>
                    <a:ext uri="{9D8B030D-6E8A-4147-A177-3AD203B41FA5}">
                      <a16:colId xmlns:a16="http://schemas.microsoft.com/office/drawing/2014/main" val="1753249665"/>
                    </a:ext>
                  </a:extLst>
                </a:gridCol>
                <a:gridCol w="1874924">
                  <a:extLst>
                    <a:ext uri="{9D8B030D-6E8A-4147-A177-3AD203B41FA5}">
                      <a16:colId xmlns:a16="http://schemas.microsoft.com/office/drawing/2014/main" val="3451589549"/>
                    </a:ext>
                  </a:extLst>
                </a:gridCol>
                <a:gridCol w="1874924">
                  <a:extLst>
                    <a:ext uri="{9D8B030D-6E8A-4147-A177-3AD203B41FA5}">
                      <a16:colId xmlns:a16="http://schemas.microsoft.com/office/drawing/2014/main" val="1205805007"/>
                    </a:ext>
                  </a:extLst>
                </a:gridCol>
              </a:tblGrid>
              <a:tr h="261504">
                <a:tc>
                  <a:txBody>
                    <a:bodyPr/>
                    <a:lstStyle/>
                    <a:p>
                      <a:pPr>
                        <a:buNone/>
                      </a:pPr>
                      <a:r>
                        <a:rPr lang="en-US" sz="1200" b="1" dirty="0"/>
                        <a:t>Test</a:t>
                      </a:r>
                    </a:p>
                  </a:txBody>
                  <a:tcPr anchor="ctr"/>
                </a:tc>
                <a:tc>
                  <a:txBody>
                    <a:bodyPr/>
                    <a:lstStyle/>
                    <a:p>
                      <a:pPr>
                        <a:buNone/>
                      </a:pPr>
                      <a:r>
                        <a:rPr lang="en-US" sz="1200" b="1" dirty="0"/>
                        <a:t>Finding</a:t>
                      </a:r>
                    </a:p>
                  </a:txBody>
                  <a:tcPr anchor="ctr"/>
                </a:tc>
                <a:tc>
                  <a:txBody>
                    <a:bodyPr/>
                    <a:lstStyle/>
                    <a:p>
                      <a:pPr>
                        <a:buNone/>
                      </a:pPr>
                      <a:r>
                        <a:rPr lang="en-US" sz="1200" b="1" dirty="0"/>
                        <a:t>Result</a:t>
                      </a:r>
                    </a:p>
                  </a:txBody>
                  <a:tcPr anchor="ctr"/>
                </a:tc>
                <a:extLst>
                  <a:ext uri="{0D108BD9-81ED-4DB2-BD59-A6C34878D82A}">
                    <a16:rowId xmlns:a16="http://schemas.microsoft.com/office/drawing/2014/main" val="4179045269"/>
                  </a:ext>
                </a:extLst>
              </a:tr>
              <a:tr h="974437">
                <a:tc>
                  <a:txBody>
                    <a:bodyPr/>
                    <a:lstStyle/>
                    <a:p>
                      <a:pPr>
                        <a:buNone/>
                      </a:pPr>
                      <a:r>
                        <a:rPr lang="en-US" sz="1200"/>
                        <a:t>Chi-square</a:t>
                      </a:r>
                    </a:p>
                  </a:txBody>
                  <a:tcPr anchor="ctr"/>
                </a:tc>
                <a:tc>
                  <a:txBody>
                    <a:bodyPr/>
                    <a:lstStyle/>
                    <a:p>
                      <a:pPr>
                        <a:buNone/>
                      </a:pPr>
                      <a:r>
                        <a:rPr lang="en-US" sz="1200" dirty="0"/>
                        <a:t>Satisfaction depends on class, travel type and loyalty</a:t>
                      </a:r>
                    </a:p>
                  </a:txBody>
                  <a:tcPr anchor="ctr"/>
                </a:tc>
                <a:tc>
                  <a:txBody>
                    <a:bodyPr/>
                    <a:lstStyle/>
                    <a:p>
                      <a:pPr>
                        <a:buNone/>
                      </a:pPr>
                      <a:r>
                        <a:rPr lang="en-US" sz="1200"/>
                        <a:t>All p &lt; 0.001</a:t>
                      </a:r>
                    </a:p>
                  </a:txBody>
                  <a:tcPr anchor="ctr"/>
                </a:tc>
                <a:extLst>
                  <a:ext uri="{0D108BD9-81ED-4DB2-BD59-A6C34878D82A}">
                    <a16:rowId xmlns:a16="http://schemas.microsoft.com/office/drawing/2014/main" val="552245322"/>
                  </a:ext>
                </a:extLst>
              </a:tr>
              <a:tr h="299827">
                <a:tc>
                  <a:txBody>
                    <a:bodyPr/>
                    <a:lstStyle/>
                    <a:p>
                      <a:pPr>
                        <a:buNone/>
                      </a:pPr>
                      <a:endParaRPr lang="en-US" sz="1200"/>
                    </a:p>
                  </a:txBody>
                  <a:tcPr anchor="ctr"/>
                </a:tc>
                <a:tc>
                  <a:txBody>
                    <a:bodyPr/>
                    <a:lstStyle/>
                    <a:p>
                      <a:pPr>
                        <a:buNone/>
                      </a:pPr>
                      <a:r>
                        <a:rPr lang="en-US" sz="1200"/>
                        <a:t>Gender effect</a:t>
                      </a:r>
                    </a:p>
                  </a:txBody>
                  <a:tcPr anchor="ctr"/>
                </a:tc>
                <a:tc>
                  <a:txBody>
                    <a:bodyPr/>
                    <a:lstStyle/>
                    <a:p>
                      <a:pPr>
                        <a:buNone/>
                      </a:pPr>
                      <a:r>
                        <a:rPr lang="en-US" sz="1200" dirty="0"/>
                        <a:t>Negligible</a:t>
                      </a:r>
                    </a:p>
                  </a:txBody>
                  <a:tcPr anchor="ctr"/>
                </a:tc>
                <a:extLst>
                  <a:ext uri="{0D108BD9-81ED-4DB2-BD59-A6C34878D82A}">
                    <a16:rowId xmlns:a16="http://schemas.microsoft.com/office/drawing/2014/main" val="2312749502"/>
                  </a:ext>
                </a:extLst>
              </a:tr>
              <a:tr h="749567">
                <a:tc>
                  <a:txBody>
                    <a:bodyPr/>
                    <a:lstStyle/>
                    <a:p>
                      <a:pPr>
                        <a:buNone/>
                      </a:pPr>
                      <a:r>
                        <a:rPr lang="en-US" sz="1200" dirty="0"/>
                        <a:t>Welch t-test: Age</a:t>
                      </a:r>
                    </a:p>
                  </a:txBody>
                  <a:tcPr anchor="ctr"/>
                </a:tc>
                <a:tc>
                  <a:txBody>
                    <a:bodyPr/>
                    <a:lstStyle/>
                    <a:p>
                      <a:pPr>
                        <a:buNone/>
                      </a:pPr>
                      <a:r>
                        <a:rPr lang="en-US" sz="1200" dirty="0"/>
                        <a:t>Satisfied passengers are older</a:t>
                      </a:r>
                    </a:p>
                  </a:txBody>
                  <a:tcPr anchor="ctr"/>
                </a:tc>
                <a:tc>
                  <a:txBody>
                    <a:bodyPr/>
                    <a:lstStyle/>
                    <a:p>
                      <a:pPr>
                        <a:buNone/>
                      </a:pPr>
                      <a:r>
                        <a:rPr lang="en-US" sz="1200" dirty="0"/>
                        <a:t>Age:41.7 vs 37.6 yrs, d = 0.27</a:t>
                      </a:r>
                    </a:p>
                  </a:txBody>
                  <a:tcPr anchor="ctr"/>
                </a:tc>
                <a:extLst>
                  <a:ext uri="{0D108BD9-81ED-4DB2-BD59-A6C34878D82A}">
                    <a16:rowId xmlns:a16="http://schemas.microsoft.com/office/drawing/2014/main" val="1039618169"/>
                  </a:ext>
                </a:extLst>
              </a:tr>
              <a:tr h="974437">
                <a:tc>
                  <a:txBody>
                    <a:bodyPr/>
                    <a:lstStyle/>
                    <a:p>
                      <a:pPr>
                        <a:buNone/>
                      </a:pPr>
                      <a:r>
                        <a:rPr lang="en-US" sz="1200" dirty="0"/>
                        <a:t>Welch t-test: Departure delay</a:t>
                      </a:r>
                    </a:p>
                  </a:txBody>
                  <a:tcPr anchor="ctr"/>
                </a:tc>
                <a:tc>
                  <a:txBody>
                    <a:bodyPr/>
                    <a:lstStyle/>
                    <a:p>
                      <a:pPr>
                        <a:buNone/>
                      </a:pPr>
                      <a:r>
                        <a:rPr lang="en-US" sz="1200" dirty="0"/>
                        <a:t>Satisfied passengers had shorter delays</a:t>
                      </a:r>
                    </a:p>
                  </a:txBody>
                  <a:tcPr anchor="ctr"/>
                </a:tc>
                <a:tc>
                  <a:txBody>
                    <a:bodyPr/>
                    <a:lstStyle/>
                    <a:p>
                      <a:pPr>
                        <a:buNone/>
                      </a:pPr>
                      <a:r>
                        <a:rPr lang="en-US" sz="1200" dirty="0"/>
                        <a:t>Departure delay12.5 vs 16.4 min, d = -0.10</a:t>
                      </a:r>
                    </a:p>
                  </a:txBody>
                  <a:tcPr anchor="ctr"/>
                </a:tc>
                <a:extLst>
                  <a:ext uri="{0D108BD9-81ED-4DB2-BD59-A6C34878D82A}">
                    <a16:rowId xmlns:a16="http://schemas.microsoft.com/office/drawing/2014/main" val="3025908634"/>
                  </a:ext>
                </a:extLst>
              </a:tr>
              <a:tr h="784513">
                <a:tc>
                  <a:txBody>
                    <a:bodyPr/>
                    <a:lstStyle/>
                    <a:p>
                      <a:pPr>
                        <a:buNone/>
                      </a:pPr>
                      <a:r>
                        <a:rPr lang="en-US" sz="1200" dirty="0"/>
                        <a:t>Spearman correlation</a:t>
                      </a:r>
                    </a:p>
                  </a:txBody>
                  <a:tcPr anchor="ctr"/>
                </a:tc>
                <a:tc>
                  <a:txBody>
                    <a:bodyPr/>
                    <a:lstStyle/>
                    <a:p>
                      <a:pPr>
                        <a:buNone/>
                      </a:pPr>
                      <a:r>
                        <a:rPr lang="en-US" sz="1200" dirty="0"/>
                        <a:t>Used for ordinal service ratings and skewed numeric variables</a:t>
                      </a:r>
                    </a:p>
                  </a:txBody>
                  <a:tcPr anchor="ctr"/>
                </a:tc>
                <a:tc>
                  <a:txBody>
                    <a:bodyPr/>
                    <a:lstStyle/>
                    <a:p>
                      <a:pPr>
                        <a:buNone/>
                      </a:pPr>
                      <a:r>
                        <a:rPr lang="en-US" sz="1200" dirty="0"/>
                        <a:t>Identified correlated service variables and relationships with satisfaction</a:t>
                      </a:r>
                    </a:p>
                  </a:txBody>
                  <a:tcPr anchor="ctr"/>
                </a:tc>
                <a:extLst>
                  <a:ext uri="{0D108BD9-81ED-4DB2-BD59-A6C34878D82A}">
                    <a16:rowId xmlns:a16="http://schemas.microsoft.com/office/drawing/2014/main" val="2693128896"/>
                  </a:ext>
                </a:extLst>
              </a:tr>
              <a:tr h="524697">
                <a:tc>
                  <a:txBody>
                    <a:bodyPr/>
                    <a:lstStyle/>
                    <a:p>
                      <a:pPr>
                        <a:buNone/>
                      </a:pPr>
                      <a:r>
                        <a:rPr lang="en-US" sz="1200"/>
                        <a:t>One-way ANOVA</a:t>
                      </a:r>
                    </a:p>
                  </a:txBody>
                  <a:tcPr anchor="ctr"/>
                </a:tc>
                <a:tc>
                  <a:txBody>
                    <a:bodyPr/>
                    <a:lstStyle/>
                    <a:p>
                      <a:pPr>
                        <a:buNone/>
                      </a:pPr>
                      <a:r>
                        <a:rPr lang="en-US" sz="1200"/>
                        <a:t>Service score differs by class</a:t>
                      </a:r>
                    </a:p>
                  </a:txBody>
                  <a:tcPr anchor="ctr"/>
                </a:tc>
                <a:tc>
                  <a:txBody>
                    <a:bodyPr/>
                    <a:lstStyle/>
                    <a:p>
                      <a:pPr>
                        <a:buNone/>
                      </a:pPr>
                      <a:r>
                        <a:rPr lang="en-US" sz="1200" dirty="0"/>
                        <a:t>F = 4,420, p &lt; 0.001</a:t>
                      </a:r>
                    </a:p>
                  </a:txBody>
                  <a:tcPr anchor="ctr"/>
                </a:tc>
                <a:extLst>
                  <a:ext uri="{0D108BD9-81ED-4DB2-BD59-A6C34878D82A}">
                    <a16:rowId xmlns:a16="http://schemas.microsoft.com/office/drawing/2014/main" val="733765125"/>
                  </a:ext>
                </a:extLst>
              </a:tr>
            </a:tbl>
          </a:graphicData>
        </a:graphic>
      </p:graphicFrame>
      <p:pic>
        <p:nvPicPr>
          <p:cNvPr id="14" name="Picture 13">
            <a:extLst>
              <a:ext uri="{FF2B5EF4-FFF2-40B4-BE49-F238E27FC236}">
                <a16:creationId xmlns:a16="http://schemas.microsoft.com/office/drawing/2014/main" id="{C661FB98-62E1-F8AB-88F7-F848F828646D}"/>
              </a:ext>
            </a:extLst>
          </p:cNvPr>
          <p:cNvPicPr>
            <a:picLocks noChangeAspect="1"/>
          </p:cNvPicPr>
          <p:nvPr/>
        </p:nvPicPr>
        <p:blipFill>
          <a:blip r:embed="rId4"/>
          <a:stretch>
            <a:fillRect/>
          </a:stretch>
        </p:blipFill>
        <p:spPr>
          <a:xfrm>
            <a:off x="7913801" y="3205301"/>
            <a:ext cx="3142974" cy="31429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5</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Predictive Statistical Modelling</a:t>
            </a:r>
            <a:endParaRPr lang="en-US" sz="3200" dirty="0"/>
          </a:p>
        </p:txBody>
      </p:sp>
      <p:sp>
        <p:nvSpPr>
          <p:cNvPr id="8" name="Text 6"/>
          <p:cNvSpPr txBox="1"/>
          <p:nvPr/>
        </p:nvSpPr>
        <p:spPr>
          <a:xfrm>
            <a:off x="737437" y="1153574"/>
            <a:ext cx="10789920" cy="320040"/>
          </a:xfrm>
          <a:prstGeom prst="rect">
            <a:avLst/>
          </a:prstGeom>
          <a:noFill/>
          <a:ln/>
        </p:spPr>
        <p:txBody>
          <a:bodyPr wrap="square" lIns="0" tIns="0" rIns="0" bIns="0" rtlCol="0" anchor="ctr"/>
          <a:lstStyle/>
          <a:p>
            <a:pPr marL="0" indent="0">
              <a:buNone/>
            </a:pPr>
            <a:r>
              <a:rPr lang="en-US" sz="2000" dirty="0">
                <a:solidFill>
                  <a:srgbClr val="4B5563"/>
                </a:solidFill>
                <a:latin typeface="Calibri" pitchFamily="34" charset="0"/>
                <a:ea typeface="Calibri" pitchFamily="34" charset="-122"/>
                <a:cs typeface="Calibri" pitchFamily="34" charset="-120"/>
              </a:rPr>
              <a:t>Logistic regression: interpretable and accurate on unseen passengers.</a:t>
            </a:r>
            <a:endParaRPr lang="en-US" sz="20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rgbClr val="17324D"/>
                </a:solidFill>
                <a:latin typeface="Calibri" pitchFamily="34" charset="0"/>
                <a:ea typeface="Calibri" pitchFamily="34" charset="-122"/>
                <a:cs typeface="Calibri" pitchFamily="34" charset="-120"/>
              </a:rPr>
              <a:t>Model Selection: </a:t>
            </a:r>
            <a:r>
              <a:rPr lang="en-US" sz="1600" dirty="0">
                <a:solidFill>
                  <a:srgbClr val="17324D"/>
                </a:solidFill>
                <a:latin typeface="Calibri" pitchFamily="34" charset="0"/>
                <a:ea typeface="Calibri" pitchFamily="34" charset="-122"/>
                <a:cs typeface="Calibri" pitchFamily="34" charset="-120"/>
              </a:rPr>
              <a:t>Chosen for interpretable odds ratios and a binary outcome</a:t>
            </a:r>
            <a:endParaRPr lang="en-US" sz="1600" dirty="0"/>
          </a:p>
          <a:p>
            <a:pPr marL="342900" indent="-342900">
              <a:spcAft>
                <a:spcPts val="1400"/>
              </a:spcAft>
              <a:buSzPct val="100000"/>
              <a:buChar char="•"/>
            </a:pPr>
            <a:r>
              <a:rPr lang="en-US" sz="1600" b="1" dirty="0">
                <a:solidFill>
                  <a:srgbClr val="17324D"/>
                </a:solidFill>
                <a:latin typeface="Calibri" pitchFamily="34" charset="0"/>
                <a:ea typeface="Calibri" pitchFamily="34" charset="-122"/>
                <a:cs typeface="Calibri" pitchFamily="34" charset="-120"/>
              </a:rPr>
              <a:t>Models Compared</a:t>
            </a:r>
            <a:r>
              <a:rPr lang="en-US" sz="1600" dirty="0">
                <a:solidFill>
                  <a:srgbClr val="17324D"/>
                </a:solidFill>
                <a:latin typeface="Calibri" pitchFamily="34" charset="0"/>
                <a:ea typeface="Calibri" pitchFamily="34" charset="-122"/>
                <a:cs typeface="Calibri" pitchFamily="34" charset="-120"/>
              </a:rPr>
              <a:t>: baseline (trip info), service (adds 14 ratings) and full (adds arrival delay)</a:t>
            </a:r>
            <a:endParaRPr lang="en-US" sz="1600" dirty="0"/>
          </a:p>
          <a:p>
            <a:pPr marL="342900" indent="-342900">
              <a:spcAft>
                <a:spcPts val="1400"/>
              </a:spcAft>
              <a:buSzPct val="100000"/>
              <a:buChar char="•"/>
            </a:pPr>
            <a:r>
              <a:rPr lang="en-US" sz="1600" b="1" dirty="0">
                <a:solidFill>
                  <a:srgbClr val="17324D"/>
                </a:solidFill>
                <a:latin typeface="Calibri" pitchFamily="34" charset="0"/>
                <a:ea typeface="Calibri" pitchFamily="34" charset="-122"/>
                <a:cs typeface="Calibri" pitchFamily="34" charset="-120"/>
              </a:rPr>
              <a:t>Performance:</a:t>
            </a:r>
            <a:r>
              <a:rPr lang="en-US" sz="1600" dirty="0">
                <a:solidFill>
                  <a:srgbClr val="17324D"/>
                </a:solidFill>
                <a:latin typeface="Calibri" pitchFamily="34" charset="0"/>
                <a:ea typeface="Calibri" pitchFamily="34" charset="-122"/>
                <a:cs typeface="Calibri" pitchFamily="34" charset="-120"/>
              </a:rPr>
              <a:t> AUC 0.965, accuracy 90.2%, sensitivity 88.9%, specificity 91.3%</a:t>
            </a:r>
            <a:endParaRPr lang="en-US" sz="1600" dirty="0"/>
          </a:p>
          <a:p>
            <a:pPr marL="342900" indent="-342900">
              <a:spcAft>
                <a:spcPts val="1400"/>
              </a:spcAft>
              <a:buSzPct val="100000"/>
              <a:buChar char="•"/>
            </a:pPr>
            <a:r>
              <a:rPr lang="en-US" sz="1600" b="1" dirty="0">
                <a:solidFill>
                  <a:srgbClr val="17324D"/>
                </a:solidFill>
                <a:latin typeface="Calibri" pitchFamily="34" charset="0"/>
                <a:ea typeface="Calibri" pitchFamily="34" charset="-122"/>
                <a:cs typeface="Calibri" pitchFamily="34" charset="-120"/>
              </a:rPr>
              <a:t>Assumptions: </a:t>
            </a:r>
            <a:r>
              <a:rPr lang="en-US" sz="1600" dirty="0">
                <a:solidFill>
                  <a:srgbClr val="17324D"/>
                </a:solidFill>
                <a:latin typeface="Calibri" pitchFamily="34" charset="0"/>
                <a:ea typeface="Calibri" pitchFamily="34" charset="-122"/>
                <a:cs typeface="Calibri" pitchFamily="34" charset="-120"/>
              </a:rPr>
              <a:t>hold (ratings VIF &lt; 4, no separation); some N/A flags (Wi-Fi, booking, boarding) are unstable</a:t>
            </a:r>
          </a:p>
          <a:p>
            <a:pPr marL="342900" indent="-342900">
              <a:spcAft>
                <a:spcPts val="1400"/>
              </a:spcAft>
              <a:buSzPct val="100000"/>
              <a:buChar char="•"/>
            </a:pPr>
            <a:r>
              <a:rPr lang="en-US" sz="1600" b="1" dirty="0">
                <a:solidFill>
                  <a:schemeClr val="accent1">
                    <a:lumMod val="50000"/>
                  </a:schemeClr>
                </a:solidFill>
              </a:rPr>
              <a:t>Recommendation :</a:t>
            </a:r>
            <a:r>
              <a:rPr lang="en-US" sz="1600" dirty="0">
                <a:solidFill>
                  <a:schemeClr val="accent1">
                    <a:lumMod val="50000"/>
                  </a:schemeClr>
                </a:solidFill>
              </a:rPr>
              <a:t>Service Logistic Regression for </a:t>
            </a:r>
            <a:r>
              <a:rPr lang="en-US" sz="1600" dirty="0" err="1">
                <a:solidFill>
                  <a:schemeClr val="accent1">
                    <a:lumMod val="50000"/>
                  </a:schemeClr>
                </a:solidFill>
              </a:rPr>
              <a:t>organisational</a:t>
            </a:r>
            <a:r>
              <a:rPr lang="en-US" sz="1600" dirty="0">
                <a:solidFill>
                  <a:schemeClr val="accent1">
                    <a:lumMod val="50000"/>
                  </a:schemeClr>
                </a:solidFill>
              </a:rPr>
              <a:t> use</a:t>
            </a: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6</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Experimental Design Evaluation</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dirty="0">
                <a:solidFill>
                  <a:srgbClr val="4B5563"/>
                </a:solidFill>
                <a:latin typeface="Calibri" pitchFamily="34" charset="0"/>
                <a:ea typeface="Calibri" pitchFamily="34" charset="-122"/>
                <a:cs typeface="Calibri" pitchFamily="34" charset="-120"/>
              </a:rPr>
              <a:t>The survey is observational, so designed experiments should confirm causes.</a:t>
            </a:r>
            <a:endParaRPr lang="en-US"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rgbClr val="000066"/>
                </a:solidFill>
                <a:latin typeface="Calibri" pitchFamily="34" charset="0"/>
                <a:ea typeface="Calibri" pitchFamily="34" charset="-122"/>
                <a:cs typeface="Calibri" pitchFamily="34" charset="-120"/>
              </a:rPr>
              <a:t>CRD</a:t>
            </a:r>
            <a:r>
              <a:rPr lang="en-US" sz="1600" dirty="0">
                <a:solidFill>
                  <a:srgbClr val="000066"/>
                </a:solidFill>
                <a:latin typeface="Calibri" pitchFamily="34" charset="0"/>
                <a:ea typeface="Calibri" pitchFamily="34" charset="-122"/>
                <a:cs typeface="Calibri" pitchFamily="34" charset="-120"/>
              </a:rPr>
              <a:t>: </a:t>
            </a:r>
            <a:r>
              <a:rPr lang="en-US" sz="1600" dirty="0">
                <a:solidFill>
                  <a:srgbClr val="000066"/>
                </a:solidFill>
              </a:rPr>
              <a:t>Passengers or flights are randomly assigned to one treatment each</a:t>
            </a:r>
          </a:p>
          <a:p>
            <a:pPr marL="342900" indent="-342900">
              <a:spcAft>
                <a:spcPts val="1400"/>
              </a:spcAft>
              <a:buSzPct val="100000"/>
              <a:buChar char="•"/>
            </a:pPr>
            <a:r>
              <a:rPr lang="en-US" sz="1600" b="1" dirty="0">
                <a:solidFill>
                  <a:srgbClr val="000066"/>
                </a:solidFill>
                <a:latin typeface="Calibri" pitchFamily="34" charset="0"/>
                <a:ea typeface="Calibri" pitchFamily="34" charset="-122"/>
                <a:cs typeface="Calibri" pitchFamily="34" charset="-120"/>
              </a:rPr>
              <a:t>RCBD</a:t>
            </a:r>
            <a:r>
              <a:rPr lang="en-US" sz="1600" dirty="0">
                <a:solidFill>
                  <a:srgbClr val="000066"/>
                </a:solidFill>
                <a:latin typeface="Calibri" pitchFamily="34" charset="0"/>
                <a:ea typeface="Calibri" pitchFamily="34" charset="-122"/>
                <a:cs typeface="Calibri" pitchFamily="34" charset="-120"/>
              </a:rPr>
              <a:t>: </a:t>
            </a:r>
            <a:r>
              <a:rPr lang="en-US" sz="1600" dirty="0">
                <a:solidFill>
                  <a:srgbClr val="000066"/>
                </a:solidFill>
              </a:rPr>
              <a:t>Block by route (or aircraft), then </a:t>
            </a:r>
            <a:r>
              <a:rPr lang="en-US" sz="1600" dirty="0" err="1">
                <a:solidFill>
                  <a:srgbClr val="000066"/>
                </a:solidFill>
              </a:rPr>
              <a:t>randomise</a:t>
            </a:r>
            <a:r>
              <a:rPr lang="en-US" sz="1600" dirty="0">
                <a:solidFill>
                  <a:srgbClr val="000066"/>
                </a:solidFill>
              </a:rPr>
              <a:t> every treatment within each route. This removes route-to-route variation.</a:t>
            </a:r>
          </a:p>
          <a:p>
            <a:pPr marL="342900" indent="-342900">
              <a:spcAft>
                <a:spcPts val="1400"/>
              </a:spcAft>
              <a:buSzPct val="100000"/>
              <a:buChar char="•"/>
            </a:pPr>
            <a:r>
              <a:rPr lang="en-US" sz="1600" b="1" dirty="0">
                <a:solidFill>
                  <a:srgbClr val="000066"/>
                </a:solidFill>
                <a:latin typeface="Calibri" pitchFamily="34" charset="0"/>
                <a:ea typeface="Calibri" pitchFamily="34" charset="-122"/>
                <a:cs typeface="Calibri" pitchFamily="34" charset="-120"/>
              </a:rPr>
              <a:t>Limitation</a:t>
            </a:r>
            <a:r>
              <a:rPr lang="en-US" sz="1600" dirty="0">
                <a:solidFill>
                  <a:srgbClr val="000066"/>
                </a:solidFill>
                <a:latin typeface="Calibri" pitchFamily="34" charset="0"/>
                <a:ea typeface="Calibri" pitchFamily="34" charset="-122"/>
                <a:cs typeface="Calibri" pitchFamily="34" charset="-120"/>
              </a:rPr>
              <a:t>: passengers were not randomly assigned, so no causal proof</a:t>
            </a:r>
            <a:endParaRPr lang="en-US" sz="1600" dirty="0">
              <a:solidFill>
                <a:srgbClr val="000066"/>
              </a:solidFill>
            </a:endParaRPr>
          </a:p>
          <a:p>
            <a:pPr marL="342900" indent="-342900">
              <a:spcAft>
                <a:spcPts val="1400"/>
              </a:spcAft>
              <a:buSzPct val="100000"/>
              <a:buChar char="•"/>
            </a:pPr>
            <a:r>
              <a:rPr lang="en-US" sz="1600" b="1" dirty="0">
                <a:solidFill>
                  <a:srgbClr val="000066"/>
                </a:solidFill>
                <a:latin typeface="Calibri" pitchFamily="34" charset="0"/>
                <a:ea typeface="Calibri" pitchFamily="34" charset="-122"/>
                <a:cs typeface="Calibri" pitchFamily="34" charset="-120"/>
              </a:rPr>
              <a:t>Proposal</a:t>
            </a:r>
            <a:r>
              <a:rPr lang="en-US" sz="1600" dirty="0">
                <a:solidFill>
                  <a:srgbClr val="000066"/>
                </a:solidFill>
                <a:latin typeface="Calibri" pitchFamily="34" charset="0"/>
                <a:ea typeface="Calibri" pitchFamily="34" charset="-122"/>
                <a:cs typeface="Calibri" pitchFamily="34" charset="-120"/>
              </a:rPr>
              <a:t>: </a:t>
            </a:r>
            <a:r>
              <a:rPr lang="en-US" sz="1600" dirty="0">
                <a:solidFill>
                  <a:srgbClr val="000066"/>
                </a:solidFill>
              </a:rPr>
              <a:t>the existing service as the control, improved Wi-Fi, and improved seat and legroom</a:t>
            </a:r>
            <a:r>
              <a:rPr lang="en-US" sz="1600" dirty="0">
                <a:solidFill>
                  <a:srgbClr val="000066"/>
                </a:solidFill>
                <a:latin typeface="Calibri" pitchFamily="34" charset="0"/>
                <a:ea typeface="Calibri" pitchFamily="34" charset="-122"/>
                <a:cs typeface="Calibri" pitchFamily="34" charset="-120"/>
              </a:rPr>
              <a:t>. And promised RCBD pilot with routes as blocks, about 326 passengers per </a:t>
            </a:r>
            <a:r>
              <a:rPr lang="en-US" sz="1600" dirty="0" err="1">
                <a:solidFill>
                  <a:srgbClr val="000066"/>
                </a:solidFill>
                <a:latin typeface="Calibri" pitchFamily="34" charset="0"/>
                <a:ea typeface="Calibri" pitchFamily="34" charset="-122"/>
                <a:cs typeface="Calibri" pitchFamily="34" charset="-120"/>
              </a:rPr>
              <a:t>group.total</a:t>
            </a:r>
            <a:r>
              <a:rPr lang="en-US" sz="1600" dirty="0">
                <a:solidFill>
                  <a:srgbClr val="000066"/>
                </a:solidFill>
                <a:latin typeface="Calibri" pitchFamily="34" charset="0"/>
                <a:ea typeface="Calibri" pitchFamily="34" charset="-122"/>
                <a:cs typeface="Calibri" pitchFamily="34" charset="-120"/>
              </a:rPr>
              <a:t> 978</a:t>
            </a:r>
          </a:p>
          <a:p>
            <a:pPr marL="342900" indent="-342900">
              <a:spcAft>
                <a:spcPts val="1400"/>
              </a:spcAft>
              <a:buSzPct val="100000"/>
              <a:buChar char="•"/>
            </a:pPr>
            <a:r>
              <a:rPr lang="en-US" sz="1600" b="1" dirty="0">
                <a:solidFill>
                  <a:srgbClr val="000066"/>
                </a:solidFill>
              </a:rPr>
              <a:t>Advantages</a:t>
            </a:r>
            <a:r>
              <a:rPr lang="en-US" sz="1600" dirty="0">
                <a:solidFill>
                  <a:srgbClr val="000066"/>
                </a:solidFill>
              </a:rPr>
              <a:t>: Tests cause and effect, controls route differences, and gives more precise comparisons</a:t>
            </a:r>
          </a:p>
          <a:p>
            <a:pPr marL="342900" indent="-342900">
              <a:spcAft>
                <a:spcPts val="1400"/>
              </a:spcAft>
              <a:buSzPct val="100000"/>
              <a:buChar char="•"/>
            </a:pPr>
            <a:r>
              <a:rPr lang="en-US" sz="1600" b="1" dirty="0" err="1">
                <a:solidFill>
                  <a:srgbClr val="000066"/>
                </a:solidFill>
              </a:rPr>
              <a:t>Feasibility</a:t>
            </a:r>
            <a:r>
              <a:rPr lang="en-US" sz="1600" dirty="0" err="1">
                <a:solidFill>
                  <a:srgbClr val="000066"/>
                </a:solidFill>
              </a:rPr>
              <a:t>:Realistic</a:t>
            </a:r>
            <a:r>
              <a:rPr lang="en-US" sz="1600" dirty="0">
                <a:solidFill>
                  <a:srgbClr val="000066"/>
                </a:solidFill>
              </a:rPr>
              <a:t> as a small pilot, followed by a re-survey of passengers</a:t>
            </a:r>
          </a:p>
          <a:p>
            <a:pPr marL="342900" indent="-342900">
              <a:spcAft>
                <a:spcPts val="1400"/>
              </a:spcAft>
              <a:buSzPct val="100000"/>
              <a:buChar char="•"/>
            </a:pPr>
            <a:endParaRPr lang="en-US" sz="1600" dirty="0">
              <a:solidFill>
                <a:srgbClr val="000066"/>
              </a:solidFill>
              <a:latin typeface="Calibri" pitchFamily="34" charset="0"/>
              <a:ea typeface="Calibri" pitchFamily="34" charset="-122"/>
              <a:cs typeface="Calibri" pitchFamily="34" charset="-120"/>
            </a:endParaRPr>
          </a:p>
          <a:p>
            <a:pPr>
              <a:spcAft>
                <a:spcPts val="1400"/>
              </a:spcAft>
              <a:buSzPct val="100000"/>
            </a:pPr>
            <a:r>
              <a:rPr lang="en-US" sz="1600" dirty="0">
                <a:solidFill>
                  <a:srgbClr val="000066"/>
                </a:solidFill>
                <a:latin typeface="Calibri" pitchFamily="34" charset="0"/>
                <a:ea typeface="Calibri" pitchFamily="34" charset="-122"/>
                <a:cs typeface="Calibri" pitchFamily="34" charset="-120"/>
              </a:rPr>
              <a:t>    </a:t>
            </a:r>
          </a:p>
          <a:p>
            <a:pPr marL="342900" indent="-342900">
              <a:spcAft>
                <a:spcPts val="1400"/>
              </a:spcAft>
              <a:buSzPct val="100000"/>
              <a:buChar char="•"/>
            </a:pPr>
            <a:endParaRPr lang="en-US" sz="1600" dirty="0">
              <a:solidFill>
                <a:srgbClr val="000066"/>
              </a:solidFill>
            </a:endParaRP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7</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50240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PCA Evaluation</a:t>
            </a:r>
            <a:endParaRPr lang="en-US" sz="3200" dirty="0"/>
          </a:p>
        </p:txBody>
      </p:sp>
      <p:sp>
        <p:nvSpPr>
          <p:cNvPr id="8" name="Text 6"/>
          <p:cNvSpPr txBox="1"/>
          <p:nvPr/>
        </p:nvSpPr>
        <p:spPr>
          <a:xfrm>
            <a:off x="1146368" y="1330452"/>
            <a:ext cx="10789920" cy="320040"/>
          </a:xfrm>
          <a:prstGeom prst="rect">
            <a:avLst/>
          </a:prstGeom>
          <a:noFill/>
          <a:ln/>
        </p:spPr>
        <p:txBody>
          <a:bodyPr wrap="square" lIns="0" tIns="0" rIns="0" bIns="0" rtlCol="0" anchor="ctr"/>
          <a:lstStyle/>
          <a:p>
            <a:pPr marL="0" indent="0">
              <a:buNone/>
            </a:pPr>
            <a:r>
              <a:rPr lang="en-US" b="1" dirty="0">
                <a:solidFill>
                  <a:srgbClr val="4B5563"/>
                </a:solidFill>
                <a:latin typeface="Calibri" pitchFamily="34" charset="0"/>
                <a:ea typeface="Calibri" pitchFamily="34" charset="-122"/>
                <a:cs typeface="Calibri" pitchFamily="34" charset="-120"/>
              </a:rPr>
              <a:t>PCA compresses the 14 ratings(correlated) , but costs accuracy and clarity.</a:t>
            </a:r>
            <a:endParaRPr lang="en-US" b="1"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dirty="0">
                <a:solidFill>
                  <a:srgbClr val="002060"/>
                </a:solidFill>
                <a:latin typeface="Calibri" pitchFamily="34" charset="0"/>
                <a:ea typeface="Calibri" pitchFamily="34" charset="-122"/>
                <a:cs typeface="Calibri" pitchFamily="34" charset="-120"/>
              </a:rPr>
              <a:t>Ratings are correlated and suitable for PCA (</a:t>
            </a:r>
            <a:r>
              <a:rPr lang="en-US" b="1" dirty="0">
                <a:solidFill>
                  <a:srgbClr val="002060"/>
                </a:solidFill>
                <a:latin typeface="Calibri" pitchFamily="34" charset="0"/>
                <a:ea typeface="Calibri" pitchFamily="34" charset="-122"/>
                <a:cs typeface="Calibri" pitchFamily="34" charset="-120"/>
              </a:rPr>
              <a:t>KMO</a:t>
            </a:r>
            <a:r>
              <a:rPr lang="en-US" dirty="0">
                <a:solidFill>
                  <a:srgbClr val="002060"/>
                </a:solidFill>
                <a:latin typeface="Calibri" pitchFamily="34" charset="0"/>
                <a:ea typeface="Calibri" pitchFamily="34" charset="-122"/>
                <a:cs typeface="Calibri" pitchFamily="34" charset="-120"/>
              </a:rPr>
              <a:t> 0.78, </a:t>
            </a:r>
            <a:r>
              <a:rPr lang="en-US" b="1" dirty="0">
                <a:solidFill>
                  <a:srgbClr val="002060"/>
                </a:solidFill>
                <a:latin typeface="Calibri" pitchFamily="34" charset="0"/>
                <a:ea typeface="Calibri" pitchFamily="34" charset="-122"/>
                <a:cs typeface="Calibri" pitchFamily="34" charset="-120"/>
              </a:rPr>
              <a:t>Bartlett</a:t>
            </a:r>
            <a:r>
              <a:rPr lang="en-US" dirty="0">
                <a:solidFill>
                  <a:srgbClr val="002060"/>
                </a:solidFill>
                <a:latin typeface="Calibri" pitchFamily="34" charset="0"/>
                <a:ea typeface="Calibri" pitchFamily="34" charset="-122"/>
                <a:cs typeface="Calibri" pitchFamily="34" charset="-120"/>
              </a:rPr>
              <a:t> significant)</a:t>
            </a:r>
            <a:endParaRPr lang="en-US" dirty="0">
              <a:solidFill>
                <a:srgbClr val="002060"/>
              </a:solidFill>
            </a:endParaRPr>
          </a:p>
          <a:p>
            <a:pPr marL="342900" indent="-342900">
              <a:spcAft>
                <a:spcPts val="1400"/>
              </a:spcAft>
              <a:buSzPct val="100000"/>
              <a:buChar char="•"/>
            </a:pPr>
            <a:r>
              <a:rPr lang="en-US" dirty="0">
                <a:solidFill>
                  <a:srgbClr val="002060"/>
                </a:solidFill>
                <a:latin typeface="Calibri" pitchFamily="34" charset="0"/>
                <a:ea typeface="Calibri" pitchFamily="34" charset="-122"/>
                <a:cs typeface="Calibri" pitchFamily="34" charset="-120"/>
              </a:rPr>
              <a:t>Results: 4 components have eigenvalue above 1; 7 are needed for 80% of variance</a:t>
            </a:r>
            <a:endParaRPr lang="en-US" dirty="0">
              <a:solidFill>
                <a:srgbClr val="002060"/>
              </a:solidFill>
            </a:endParaRPr>
          </a:p>
          <a:p>
            <a:pPr marL="342900" indent="-342900">
              <a:spcAft>
                <a:spcPts val="1400"/>
              </a:spcAft>
              <a:buSzPct val="100000"/>
              <a:buChar char="•"/>
            </a:pPr>
            <a:r>
              <a:rPr lang="en-US" dirty="0">
                <a:solidFill>
                  <a:srgbClr val="002060"/>
                </a:solidFill>
                <a:latin typeface="Calibri" pitchFamily="34" charset="0"/>
                <a:ea typeface="Calibri" pitchFamily="34" charset="-122"/>
                <a:cs typeface="Calibri" pitchFamily="34" charset="-120"/>
              </a:rPr>
              <a:t>PCA regression AUC 0.952 vs 0.965 for the individual ratings</a:t>
            </a:r>
          </a:p>
          <a:p>
            <a:pPr marL="342900" indent="-342900">
              <a:spcAft>
                <a:spcPts val="1400"/>
              </a:spcAft>
              <a:buSzPct val="100000"/>
              <a:buChar char="•"/>
            </a:pPr>
            <a:r>
              <a:rPr lang="en-US" dirty="0">
                <a:solidFill>
                  <a:srgbClr val="002060"/>
                </a:solidFill>
              </a:rPr>
              <a:t>he individual ratings are easier for management to interpret because they can identify the </a:t>
            </a:r>
            <a:r>
              <a:rPr lang="en-US" b="1" dirty="0">
                <a:solidFill>
                  <a:srgbClr val="002060"/>
                </a:solidFill>
              </a:rPr>
              <a:t>specific service that needs improvement</a:t>
            </a:r>
            <a:r>
              <a:rPr lang="en-US" dirty="0">
                <a:solidFill>
                  <a:srgbClr val="002060"/>
                </a:solidFill>
              </a:rPr>
              <a:t>.</a:t>
            </a:r>
          </a:p>
          <a:p>
            <a:pPr marL="342900" indent="-342900">
              <a:spcAft>
                <a:spcPts val="1400"/>
              </a:spcAft>
              <a:buSzPct val="100000"/>
              <a:buChar char="•"/>
            </a:pPr>
            <a:r>
              <a:rPr lang="en-US" dirty="0">
                <a:solidFill>
                  <a:srgbClr val="002060"/>
                </a:solidFill>
                <a:latin typeface="Calibri" pitchFamily="34" charset="0"/>
                <a:ea typeface="Calibri" pitchFamily="34" charset="-122"/>
                <a:cs typeface="Calibri" pitchFamily="34" charset="-120"/>
              </a:rPr>
              <a:t>Decision: keep individual ratings; components cannot show which service to fix</a:t>
            </a:r>
          </a:p>
          <a:p>
            <a:pPr marL="342900" indent="-342900">
              <a:spcAft>
                <a:spcPts val="1400"/>
              </a:spcAft>
              <a:buSzPct val="100000"/>
              <a:buChar char="•"/>
            </a:pPr>
            <a:endParaRPr lang="en-US" dirty="0">
              <a:solidFill>
                <a:srgbClr val="002060"/>
              </a:solidFill>
              <a:latin typeface="Calibri" pitchFamily="34" charset="0"/>
              <a:ea typeface="Calibri" pitchFamily="34" charset="-122"/>
              <a:cs typeface="Calibri" pitchFamily="34" charset="-120"/>
            </a:endParaRPr>
          </a:p>
          <a:p>
            <a:pPr marL="342900" indent="-342900">
              <a:spcAft>
                <a:spcPts val="1400"/>
              </a:spcAft>
              <a:buSzPct val="100000"/>
              <a:buChar char="•"/>
            </a:pPr>
            <a:endParaRPr lang="en-US" dirty="0">
              <a:solidFill>
                <a:srgbClr val="002060"/>
              </a:solidFill>
            </a:endParaRP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8</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Bayesian Statistical Methods</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r>
              <a:rPr lang="en-US" sz="1600" dirty="0"/>
              <a:t>is to combine </a:t>
            </a:r>
            <a:r>
              <a:rPr lang="en-US" sz="1600" b="1" dirty="0"/>
              <a:t>prior information with observed data</a:t>
            </a:r>
            <a:r>
              <a:rPr lang="en-US" sz="1600" dirty="0"/>
              <a:t> to obtain a </a:t>
            </a:r>
            <a:r>
              <a:rPr lang="en-US" sz="1600" b="1" dirty="0"/>
              <a:t>posterior result</a:t>
            </a:r>
            <a:r>
              <a:rPr lang="en-US" sz="1600" dirty="0"/>
              <a:t>.</a:t>
            </a:r>
            <a:endParaRPr lang="en-US" sz="15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Naive Bayes</a:t>
            </a:r>
            <a:r>
              <a:rPr lang="en-US" dirty="0">
                <a:solidFill>
                  <a:srgbClr val="17324D"/>
                </a:solidFill>
                <a:latin typeface="Calibri" pitchFamily="34" charset="0"/>
                <a:ea typeface="Calibri" pitchFamily="34" charset="-122"/>
                <a:cs typeface="Calibri" pitchFamily="34" charset="-120"/>
              </a:rPr>
              <a:t>: assumes independent ratings, but the ratings are correlated</a:t>
            </a:r>
            <a:endParaRPr lang="en-US" dirty="0"/>
          </a:p>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Bayesian regression</a:t>
            </a:r>
            <a:r>
              <a:rPr lang="en-US" dirty="0">
                <a:solidFill>
                  <a:srgbClr val="17324D"/>
                </a:solidFill>
                <a:latin typeface="Calibri" pitchFamily="34" charset="0"/>
                <a:ea typeface="Calibri" pitchFamily="34" charset="-122"/>
                <a:cs typeface="Calibri" pitchFamily="34" charset="-120"/>
              </a:rPr>
              <a:t>: with about 104,000 rows the posterior matches the frequentist fit</a:t>
            </a:r>
          </a:p>
          <a:p>
            <a:pPr marL="342900" indent="-342900">
              <a:spcAft>
                <a:spcPts val="1400"/>
              </a:spcAft>
              <a:buSzPct val="100000"/>
              <a:buChar char="•"/>
            </a:pPr>
            <a:r>
              <a:rPr lang="en-US" b="1" dirty="0">
                <a:solidFill>
                  <a:srgbClr val="000066"/>
                </a:solidFill>
              </a:rPr>
              <a:t>Laplace approximation with a flat prior</a:t>
            </a:r>
            <a:endParaRPr lang="en-US" dirty="0">
              <a:solidFill>
                <a:srgbClr val="000066"/>
              </a:solidFill>
            </a:endParaRPr>
          </a:p>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Decision value</a:t>
            </a:r>
            <a:r>
              <a:rPr lang="en-US" dirty="0">
                <a:solidFill>
                  <a:srgbClr val="17324D"/>
                </a:solidFill>
                <a:latin typeface="Calibri" pitchFamily="34" charset="0"/>
                <a:ea typeface="Calibri" pitchFamily="34" charset="-122"/>
                <a:cs typeface="Calibri" pitchFamily="34" charset="-120"/>
              </a:rPr>
              <a:t>: direct statements such as P(Business satisfaction &gt; Economy satisfaction ) = 1.00</a:t>
            </a:r>
            <a:endParaRPr lang="en-US" dirty="0"/>
          </a:p>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Prior sensitivity</a:t>
            </a:r>
            <a:r>
              <a:rPr lang="en-US" dirty="0">
                <a:solidFill>
                  <a:srgbClr val="17324D"/>
                </a:solidFill>
                <a:latin typeface="Calibri" pitchFamily="34" charset="0"/>
                <a:ea typeface="Calibri" pitchFamily="34" charset="-122"/>
                <a:cs typeface="Calibri" pitchFamily="34" charset="-120"/>
              </a:rPr>
              <a:t>: with only n = 30 a skeptical prior moves the estimate from 53% to 35%; with n = 104,000 both give 43.4%</a:t>
            </a:r>
          </a:p>
          <a:p>
            <a:pPr marL="342900" indent="-342900">
              <a:spcAft>
                <a:spcPts val="1400"/>
              </a:spcAft>
              <a:buSzPct val="100000"/>
              <a:buChar char="•"/>
            </a:pPr>
            <a:r>
              <a:rPr lang="en-US" b="1" dirty="0">
                <a:solidFill>
                  <a:schemeClr val="tx2">
                    <a:lumMod val="50000"/>
                  </a:schemeClr>
                </a:solidFill>
              </a:rPr>
              <a:t>Bayesian method limitation: </a:t>
            </a:r>
            <a:r>
              <a:rPr lang="en-US" dirty="0">
                <a:solidFill>
                  <a:schemeClr val="tx2">
                    <a:lumMod val="50000"/>
                  </a:schemeClr>
                </a:solidFill>
              </a:rPr>
              <a:t>prior selection and additional model complexity</a:t>
            </a: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1">
            <a:extLst>
              <a:ext uri="{FF2B5EF4-FFF2-40B4-BE49-F238E27FC236}">
                <a16:creationId xmlns:a16="http://schemas.microsoft.com/office/drawing/2014/main" id="{0BC6943D-7DE3-1E75-8CFC-E29ABCD08602}"/>
              </a:ext>
            </a:extLst>
          </p:cNvPr>
          <p:cNvSpPr txBox="1"/>
          <p:nvPr/>
        </p:nvSpPr>
        <p:spPr>
          <a:xfrm>
            <a:off x="544068"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9</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Time Series Extension</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500" dirty="0">
                <a:solidFill>
                  <a:srgbClr val="4B5563"/>
                </a:solidFill>
                <a:latin typeface="Calibri" pitchFamily="34" charset="0"/>
                <a:ea typeface="Calibri" pitchFamily="34" charset="-122"/>
                <a:cs typeface="Calibri" pitchFamily="34" charset="-120"/>
              </a:rPr>
              <a:t>Not applicable to the current cross-sectional survey; valuable with dated data.</a:t>
            </a:r>
            <a:endParaRPr lang="en-US" sz="1500" dirty="0"/>
          </a:p>
        </p:txBody>
      </p:sp>
      <p:sp>
        <p:nvSpPr>
          <p:cNvPr id="9" name="Text 7"/>
          <p:cNvSpPr txBox="1"/>
          <p:nvPr/>
        </p:nvSpPr>
        <p:spPr>
          <a:xfrm>
            <a:off x="713232" y="1828800"/>
            <a:ext cx="5120640" cy="4297680"/>
          </a:xfrm>
          <a:prstGeom prst="rect">
            <a:avLst/>
          </a:prstGeom>
          <a:noFill/>
          <a:ln/>
        </p:spPr>
        <p:txBody>
          <a:bodyPr wrap="square" lIns="0" tIns="0" rIns="0" bIns="0" rtlCol="0" anchor="t"/>
          <a:lstStyle/>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Current data has no date column, so trend and forecasting are not possible</a:t>
            </a:r>
            <a:endParaRPr lang="en-US" dirty="0"/>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No verified temporal ordering exists, so time-series modelling is not valid for the current dataset</a:t>
            </a:r>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With dated, route-level data: trend and seasonal analysis, ARIMA forecasting</a:t>
            </a:r>
            <a:endParaRPr lang="en-US" dirty="0"/>
          </a:p>
          <a:p>
            <a:pPr marL="342900" indent="-342900">
              <a:spcAft>
                <a:spcPts val="1400"/>
              </a:spcAft>
              <a:buSzPct val="100000"/>
              <a:buChar char="•"/>
            </a:pPr>
            <a:r>
              <a:rPr lang="en-US" dirty="0">
                <a:solidFill>
                  <a:srgbClr val="17324D"/>
                </a:solidFill>
                <a:latin typeface="Calibri" pitchFamily="34" charset="0"/>
                <a:ea typeface="Calibri" pitchFamily="34" charset="-122"/>
                <a:cs typeface="Calibri" pitchFamily="34" charset="-120"/>
              </a:rPr>
              <a:t>Benefits: measure the effect of improvements and raise early-warning alerts</a:t>
            </a:r>
            <a:endParaRPr lang="en-US" dirty="0"/>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11" name="Text 9"/>
          <p:cNvSpPr txBox="1"/>
          <p:nvPr/>
        </p:nvSpPr>
        <p:spPr>
          <a:xfrm>
            <a:off x="6309360" y="1920240"/>
            <a:ext cx="5212080" cy="1108710"/>
          </a:xfrm>
          <a:prstGeom prst="rect">
            <a:avLst/>
          </a:prstGeom>
          <a:noFill/>
          <a:ln/>
        </p:spPr>
        <p:txBody>
          <a:bodyPr wrap="square" lIns="0" tIns="0" rIns="0" bIns="0" rtlCol="0" anchor="b"/>
          <a:lstStyle/>
          <a:p>
            <a:pPr marL="0" indent="0" algn="ctr">
              <a:buNone/>
            </a:pPr>
            <a:r>
              <a:rPr lang="en-US" sz="4400" b="1" dirty="0">
                <a:solidFill>
                  <a:srgbClr val="2A9D8F"/>
                </a:solidFill>
                <a:latin typeface="Cambria" pitchFamily="34" charset="0"/>
                <a:ea typeface="Cambria" pitchFamily="34" charset="-122"/>
                <a:cs typeface="Cambria" pitchFamily="34" charset="-120"/>
              </a:rPr>
              <a:t>0</a:t>
            </a:r>
            <a:endParaRPr lang="en-US" sz="4400" dirty="0"/>
          </a:p>
        </p:txBody>
      </p:sp>
      <p:sp>
        <p:nvSpPr>
          <p:cNvPr id="12" name="Text 10"/>
          <p:cNvSpPr txBox="1"/>
          <p:nvPr/>
        </p:nvSpPr>
        <p:spPr>
          <a:xfrm>
            <a:off x="6309360" y="302895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date columns in the dataset</a:t>
            </a:r>
            <a:endParaRPr lang="en-US" sz="1500" dirty="0"/>
          </a:p>
        </p:txBody>
      </p:sp>
      <p:sp>
        <p:nvSpPr>
          <p:cNvPr id="13" name="Text 11"/>
          <p:cNvSpPr txBox="1"/>
          <p:nvPr/>
        </p:nvSpPr>
        <p:spPr>
          <a:xfrm>
            <a:off x="6309360" y="4137660"/>
            <a:ext cx="5212080" cy="1108710"/>
          </a:xfrm>
          <a:prstGeom prst="rect">
            <a:avLst/>
          </a:prstGeom>
          <a:noFill/>
          <a:ln/>
        </p:spPr>
        <p:txBody>
          <a:bodyPr wrap="square" lIns="0" tIns="0" rIns="0" bIns="0" rtlCol="0" anchor="b"/>
          <a:lstStyle/>
          <a:p>
            <a:pPr marL="0" indent="0" algn="ctr">
              <a:buNone/>
            </a:pPr>
            <a:r>
              <a:rPr lang="en-US" sz="4400" b="1" dirty="0">
                <a:solidFill>
                  <a:srgbClr val="E07B2A"/>
                </a:solidFill>
                <a:latin typeface="Cambria" pitchFamily="34" charset="0"/>
                <a:ea typeface="Cambria" pitchFamily="34" charset="-122"/>
                <a:cs typeface="Cambria" pitchFamily="34" charset="-120"/>
              </a:rPr>
              <a:t>24+</a:t>
            </a:r>
            <a:endParaRPr lang="en-US" sz="4400" dirty="0"/>
          </a:p>
        </p:txBody>
      </p:sp>
      <p:sp>
        <p:nvSpPr>
          <p:cNvPr id="14" name="Text 12"/>
          <p:cNvSpPr txBox="1"/>
          <p:nvPr/>
        </p:nvSpPr>
        <p:spPr>
          <a:xfrm>
            <a:off x="6309360" y="5246370"/>
            <a:ext cx="5212080" cy="665226"/>
          </a:xfrm>
          <a:prstGeom prst="rect">
            <a:avLst/>
          </a:prstGeom>
          <a:noFill/>
          <a:ln/>
        </p:spPr>
        <p:txBody>
          <a:bodyPr wrap="square" lIns="0" tIns="0" rIns="0" bIns="0" rtlCol="0" anchor="t"/>
          <a:lstStyle/>
          <a:p>
            <a:pPr algn="ctr"/>
            <a:r>
              <a:rPr lang="en-US" sz="1500" dirty="0">
                <a:solidFill>
                  <a:srgbClr val="4B5563"/>
                </a:solidFill>
                <a:latin typeface="Calibri" pitchFamily="34" charset="0"/>
                <a:ea typeface="Calibri" pitchFamily="34" charset="-122"/>
                <a:cs typeface="Calibri" pitchFamily="34" charset="-120"/>
              </a:rPr>
              <a:t>Months of Future dated data</a:t>
            </a:r>
            <a:endParaRPr lang="en-US" sz="1500" dirty="0"/>
          </a:p>
          <a:p>
            <a:pPr marL="0" indent="0" algn="ctr">
              <a:buNone/>
            </a:pP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10</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64682"/>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Industry Innovation Proposal</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500" dirty="0">
                <a:solidFill>
                  <a:srgbClr val="4B5563"/>
                </a:solidFill>
                <a:latin typeface="Calibri" pitchFamily="34" charset="0"/>
                <a:ea typeface="Calibri" pitchFamily="34" charset="-122"/>
                <a:cs typeface="Calibri" pitchFamily="34" charset="-120"/>
              </a:rPr>
              <a:t>Passenger Satisfaction Decision Support System (DSS).</a:t>
            </a:r>
            <a:endParaRPr lang="en-US" sz="1500" dirty="0"/>
          </a:p>
        </p:txBody>
      </p:sp>
      <p:sp>
        <p:nvSpPr>
          <p:cNvPr id="9" name="Text 7"/>
          <p:cNvSpPr txBox="1"/>
          <p:nvPr/>
        </p:nvSpPr>
        <p:spPr>
          <a:xfrm>
            <a:off x="335903" y="1687503"/>
            <a:ext cx="5416482" cy="3838652"/>
          </a:xfrm>
          <a:prstGeom prst="rect">
            <a:avLst/>
          </a:prstGeom>
          <a:noFill/>
          <a:ln/>
        </p:spPr>
        <p:txBody>
          <a:bodyPr wrap="square" lIns="0" tIns="0" rIns="0" bIns="0" rtlCol="0" anchor="t"/>
          <a:lstStyle/>
          <a:p>
            <a:pPr marL="342900" indent="-342900">
              <a:spcAft>
                <a:spcPts val="1400"/>
              </a:spcAft>
              <a:buSzPct val="100000"/>
              <a:buChar char="•"/>
            </a:pPr>
            <a:r>
              <a:rPr lang="en-US" b="1" dirty="0">
                <a:solidFill>
                  <a:srgbClr val="000066"/>
                </a:solidFill>
                <a:latin typeface="Calibri" pitchFamily="34" charset="0"/>
                <a:ea typeface="Calibri" pitchFamily="34" charset="-122"/>
                <a:cs typeface="Calibri" pitchFamily="34" charset="-120"/>
              </a:rPr>
              <a:t>Need</a:t>
            </a:r>
            <a:r>
              <a:rPr lang="en-US" dirty="0">
                <a:solidFill>
                  <a:srgbClr val="000066"/>
                </a:solidFill>
                <a:latin typeface="Calibri" pitchFamily="34" charset="0"/>
                <a:ea typeface="Calibri" pitchFamily="34" charset="-122"/>
                <a:cs typeface="Calibri" pitchFamily="34" charset="-120"/>
              </a:rPr>
              <a:t>: prioritise service spend and find at-risk passengers early</a:t>
            </a:r>
            <a:endParaRPr lang="en-US" dirty="0">
              <a:solidFill>
                <a:srgbClr val="000066"/>
              </a:solidFill>
            </a:endParaRPr>
          </a:p>
          <a:p>
            <a:pPr marL="342900" indent="-342900">
              <a:spcAft>
                <a:spcPts val="1400"/>
              </a:spcAft>
              <a:buSzPct val="100000"/>
              <a:buChar char="•"/>
            </a:pPr>
            <a:r>
              <a:rPr lang="en-US" b="1" dirty="0">
                <a:solidFill>
                  <a:srgbClr val="000066"/>
                </a:solidFill>
                <a:latin typeface="Calibri" pitchFamily="34" charset="0"/>
                <a:ea typeface="Calibri" pitchFamily="34" charset="-122"/>
                <a:cs typeface="Calibri" pitchFamily="34" charset="-120"/>
              </a:rPr>
              <a:t>Framework</a:t>
            </a:r>
            <a:r>
              <a:rPr lang="en-US" dirty="0">
                <a:solidFill>
                  <a:srgbClr val="000066"/>
                </a:solidFill>
                <a:latin typeface="Calibri" pitchFamily="34" charset="0"/>
                <a:ea typeface="Calibri" pitchFamily="34" charset="-122"/>
                <a:cs typeface="Calibri" pitchFamily="34" charset="-120"/>
              </a:rPr>
              <a:t>: model scores each passenger into High risk, Watch or Likely satisfied; 6%, 47% and 92% were actually satisfied</a:t>
            </a:r>
            <a:endParaRPr lang="en-US" dirty="0">
              <a:solidFill>
                <a:srgbClr val="000066"/>
              </a:solidFill>
            </a:endParaRPr>
          </a:p>
          <a:p>
            <a:pPr marL="342900" indent="-342900">
              <a:spcAft>
                <a:spcPts val="1400"/>
              </a:spcAft>
              <a:buSzPct val="100000"/>
              <a:buChar char="•"/>
            </a:pPr>
            <a:r>
              <a:rPr lang="en-US" b="1" dirty="0">
                <a:solidFill>
                  <a:srgbClr val="000066"/>
                </a:solidFill>
                <a:latin typeface="Calibri" pitchFamily="34" charset="0"/>
                <a:ea typeface="Calibri" pitchFamily="34" charset="-122"/>
                <a:cs typeface="Calibri" pitchFamily="34" charset="-120"/>
              </a:rPr>
              <a:t>What-if engine: </a:t>
            </a:r>
            <a:r>
              <a:rPr lang="en-US" dirty="0">
                <a:solidFill>
                  <a:srgbClr val="000066"/>
                </a:solidFill>
                <a:latin typeface="Calibri" pitchFamily="34" charset="0"/>
                <a:ea typeface="Calibri" pitchFamily="34" charset="-122"/>
                <a:cs typeface="Calibri" pitchFamily="34" charset="-120"/>
              </a:rPr>
              <a:t>+1 rating on online boarding gives +5.6 pp satisfaction, Wi-Fi +5.6 pp</a:t>
            </a:r>
          </a:p>
          <a:p>
            <a:pPr marL="342900" indent="-342900">
              <a:spcAft>
                <a:spcPts val="1400"/>
              </a:spcAft>
              <a:buSzPct val="100000"/>
              <a:buChar char="•"/>
            </a:pPr>
            <a:r>
              <a:rPr lang="en-US" b="1" dirty="0">
                <a:solidFill>
                  <a:srgbClr val="000066"/>
                </a:solidFill>
              </a:rPr>
              <a:t>Expected </a:t>
            </a:r>
            <a:r>
              <a:rPr lang="en-US" b="1" dirty="0" err="1">
                <a:solidFill>
                  <a:srgbClr val="000066"/>
                </a:solidFill>
              </a:rPr>
              <a:t>benefits:</a:t>
            </a:r>
            <a:r>
              <a:rPr lang="en-US" dirty="0" err="1">
                <a:solidFill>
                  <a:srgbClr val="000066"/>
                </a:solidFill>
              </a:rPr>
              <a:t>Earlier</a:t>
            </a:r>
            <a:r>
              <a:rPr lang="en-US" dirty="0">
                <a:solidFill>
                  <a:srgbClr val="000066"/>
                </a:solidFill>
              </a:rPr>
              <a:t> service recovery and spending focused on the highest-impact services</a:t>
            </a:r>
          </a:p>
          <a:p>
            <a:pPr marL="342900" indent="-342900">
              <a:spcAft>
                <a:spcPts val="1400"/>
              </a:spcAft>
              <a:buSzPct val="100000"/>
              <a:buChar char="•"/>
            </a:pPr>
            <a:r>
              <a:rPr lang="en-US" b="1" dirty="0">
                <a:solidFill>
                  <a:srgbClr val="000066"/>
                </a:solidFill>
                <a:latin typeface="Calibri" pitchFamily="34" charset="0"/>
                <a:ea typeface="Calibri" pitchFamily="34" charset="-122"/>
                <a:cs typeface="Calibri" pitchFamily="34" charset="-120"/>
              </a:rPr>
              <a:t>Challenges: </a:t>
            </a:r>
            <a:r>
              <a:rPr lang="en-US" dirty="0">
                <a:solidFill>
                  <a:srgbClr val="000066"/>
                </a:solidFill>
                <a:latin typeface="Calibri" pitchFamily="34" charset="0"/>
                <a:ea typeface="Calibri" pitchFamily="34" charset="-122"/>
                <a:cs typeface="Calibri" pitchFamily="34" charset="-120"/>
              </a:rPr>
              <a:t>results are associations; needs a regular survey data pipeline</a:t>
            </a: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Chart 0"/>
          <p:cNvGraphicFramePr/>
          <p:nvPr/>
        </p:nvGraphicFramePr>
        <p:xfrm>
          <a:off x="6263640" y="1874520"/>
          <a:ext cx="5303520" cy="42519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11</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Industry Expert Validation</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500" dirty="0">
                <a:solidFill>
                  <a:srgbClr val="4B5563"/>
                </a:solidFill>
                <a:latin typeface="Calibri" pitchFamily="34" charset="0"/>
                <a:ea typeface="Calibri" pitchFamily="34" charset="-122"/>
                <a:cs typeface="Calibri" pitchFamily="34" charset="-120"/>
              </a:rPr>
              <a:t>Questionnaire, evidence and changes made after expert feedback.</a:t>
            </a:r>
            <a:endParaRPr lang="en-US" sz="1500" dirty="0"/>
          </a:p>
        </p:txBody>
      </p:sp>
      <p:sp>
        <p:nvSpPr>
          <p:cNvPr id="9" name="Text 7"/>
          <p:cNvSpPr txBox="1"/>
          <p:nvPr/>
        </p:nvSpPr>
        <p:spPr>
          <a:xfrm>
            <a:off x="713232" y="2066544"/>
            <a:ext cx="5120640" cy="3044952"/>
          </a:xfrm>
          <a:prstGeom prst="rect">
            <a:avLst/>
          </a:prstGeom>
          <a:noFill/>
          <a:ln/>
        </p:spPr>
        <p:txBody>
          <a:bodyPr wrap="square" lIns="0" tIns="0" rIns="0" bIns="0" rtlCol="0" anchor="t"/>
          <a:lstStyle/>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Method: </a:t>
            </a:r>
            <a:r>
              <a:rPr lang="en-US" dirty="0">
                <a:solidFill>
                  <a:srgbClr val="17324D"/>
                </a:solidFill>
                <a:latin typeface="Calibri" pitchFamily="34" charset="0"/>
                <a:ea typeface="Calibri" pitchFamily="34" charset="-122"/>
                <a:cs typeface="Calibri" pitchFamily="34" charset="-120"/>
              </a:rPr>
              <a:t>10-item questionnaire scored 1-5 (4-5 = agree); an item is validated at I-CVI 0.78 or more with 6+ experts (0.83 with 3-5)</a:t>
            </a:r>
            <a:endParaRPr lang="en-US" dirty="0"/>
          </a:p>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Topics</a:t>
            </a:r>
            <a:r>
              <a:rPr lang="en-US" dirty="0">
                <a:solidFill>
                  <a:srgbClr val="17324D"/>
                </a:solidFill>
                <a:latin typeface="Calibri" pitchFamily="34" charset="0"/>
                <a:ea typeface="Calibri" pitchFamily="34" charset="-122"/>
                <a:cs typeface="Calibri" pitchFamily="34" charset="-120"/>
              </a:rPr>
              <a:t>: key drivers, counter-intuitive ratings (gate location, time convenience, food), risk bands, feasibility of actions</a:t>
            </a:r>
            <a:endParaRPr lang="en-US" dirty="0"/>
          </a:p>
          <a:p>
            <a:pPr marL="342900" indent="-342900">
              <a:spcAft>
                <a:spcPts val="1400"/>
              </a:spcAft>
              <a:buSzPct val="100000"/>
              <a:buChar char="•"/>
            </a:pPr>
            <a:r>
              <a:rPr lang="en-US" b="1" dirty="0">
                <a:solidFill>
                  <a:srgbClr val="17324D"/>
                </a:solidFill>
                <a:latin typeface="Calibri" pitchFamily="34" charset="0"/>
                <a:ea typeface="Calibri" pitchFamily="34" charset="-122"/>
                <a:cs typeface="Calibri" pitchFamily="34" charset="-120"/>
              </a:rPr>
              <a:t>Evidence to attach: </a:t>
            </a:r>
            <a:r>
              <a:rPr lang="en-US" dirty="0">
                <a:solidFill>
                  <a:srgbClr val="17324D"/>
                </a:solidFill>
                <a:latin typeface="Calibri" pitchFamily="34" charset="0"/>
                <a:ea typeface="Calibri" pitchFamily="34" charset="-122"/>
                <a:cs typeface="Calibri" pitchFamily="34" charset="-120"/>
              </a:rPr>
              <a:t>signed form, email or meeting notes</a:t>
            </a:r>
            <a:endParaRPr lang="en-US" dirty="0"/>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graphicFrame>
        <p:nvGraphicFramePr>
          <p:cNvPr id="11" name="Table 0">
            <a:extLst>
              <a:ext uri="{FF2B5EF4-FFF2-40B4-BE49-F238E27FC236}">
                <a16:creationId xmlns:a16="http://schemas.microsoft.com/office/drawing/2014/main" id="{F275E533-F757-0A8B-D080-22E24AADF261}"/>
              </a:ext>
            </a:extLst>
          </p:cNvPr>
          <p:cNvGraphicFramePr>
            <a:graphicFrameLocks noGrp="1"/>
          </p:cNvGraphicFramePr>
          <p:nvPr>
            <p:extLst>
              <p:ext uri="{D42A27DB-BD31-4B8C-83A1-F6EECF244321}">
                <p14:modId xmlns:p14="http://schemas.microsoft.com/office/powerpoint/2010/main" val="2577415753"/>
              </p:ext>
            </p:extLst>
          </p:nvPr>
        </p:nvGraphicFramePr>
        <p:xfrm>
          <a:off x="6094476" y="2935770"/>
          <a:ext cx="5577839" cy="1639311"/>
        </p:xfrm>
        <a:graphic>
          <a:graphicData uri="http://schemas.openxmlformats.org/drawingml/2006/table">
            <a:tbl>
              <a:tblPr/>
              <a:tblGrid>
                <a:gridCol w="1773279">
                  <a:extLst>
                    <a:ext uri="{9D8B030D-6E8A-4147-A177-3AD203B41FA5}">
                      <a16:colId xmlns:a16="http://schemas.microsoft.com/office/drawing/2014/main" val="20000"/>
                    </a:ext>
                  </a:extLst>
                </a:gridCol>
                <a:gridCol w="2048609">
                  <a:extLst>
                    <a:ext uri="{9D8B030D-6E8A-4147-A177-3AD203B41FA5}">
                      <a16:colId xmlns:a16="http://schemas.microsoft.com/office/drawing/2014/main" val="20001"/>
                    </a:ext>
                  </a:extLst>
                </a:gridCol>
                <a:gridCol w="1755951">
                  <a:extLst>
                    <a:ext uri="{9D8B030D-6E8A-4147-A177-3AD203B41FA5}">
                      <a16:colId xmlns:a16="http://schemas.microsoft.com/office/drawing/2014/main" val="20002"/>
                    </a:ext>
                  </a:extLst>
                </a:gridCol>
              </a:tblGrid>
              <a:tr h="16622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Expert</a:t>
                      </a:r>
                      <a:endParaRPr lang="en-US" sz="1300" dirty="0">
                        <a:latin typeface="Calibri" charset="0"/>
                        <a:ea typeface="Calibri" charset="0"/>
                        <a:cs typeface="Calibri" charset="0"/>
                      </a:endParaRPr>
                    </a:p>
                  </a:txBody>
                  <a:tcPr marL="76200" marR="76200" marT="50800" marB="50800" anchor="ctr">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solidFill>
                      <a:srgbClr val="17324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Feedback received</a:t>
                      </a:r>
                      <a:endParaRPr lang="en-US" sz="1300" dirty="0">
                        <a:latin typeface="Calibri" charset="0"/>
                        <a:ea typeface="Calibri" charset="0"/>
                        <a:cs typeface="Calibri" charset="0"/>
                      </a:endParaRPr>
                    </a:p>
                  </a:txBody>
                  <a:tcPr marL="76200" marR="76200" marT="50800" marB="50800" anchor="ctr">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solidFill>
                      <a:srgbClr val="17324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Change made</a:t>
                      </a:r>
                      <a:endParaRPr lang="en-US" sz="1300" dirty="0">
                        <a:latin typeface="Calibri" charset="0"/>
                        <a:ea typeface="Calibri" charset="0"/>
                        <a:cs typeface="Calibri" charset="0"/>
                      </a:endParaRPr>
                    </a:p>
                  </a:txBody>
                  <a:tcPr marL="76200" marR="76200" marT="50800" marB="50800" anchor="ctr">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solidFill>
                      <a:srgbClr val="17324D"/>
                    </a:solidFill>
                  </a:tcPr>
                </a:tc>
                <a:extLst>
                  <a:ext uri="{0D108BD9-81ED-4DB2-BD59-A6C34878D82A}">
                    <a16:rowId xmlns:a16="http://schemas.microsoft.com/office/drawing/2014/main" val="10000"/>
                  </a:ext>
                </a:extLst>
              </a:tr>
              <a:tr h="1339591">
                <a:tc>
                  <a:txBody>
                    <a:bodyPr/>
                    <a:lstStyle/>
                    <a:p>
                      <a:pPr marL="0" indent="0">
                        <a:buNone/>
                      </a:pPr>
                      <a:r>
                        <a:rPr lang="en-US" sz="1200" i="1" dirty="0" err="1">
                          <a:solidFill>
                            <a:srgbClr val="B45309"/>
                          </a:solidFill>
                          <a:latin typeface="Calibri" pitchFamily="34" charset="0"/>
                          <a:ea typeface="Calibri" pitchFamily="34" charset="-122"/>
                          <a:cs typeface="Calibri" pitchFamily="34" charset="-120"/>
                        </a:rPr>
                        <a:t>Mr.Prabath</a:t>
                      </a:r>
                      <a:r>
                        <a:rPr lang="en-US" sz="1200" i="1" dirty="0">
                          <a:solidFill>
                            <a:srgbClr val="B45309"/>
                          </a:solidFill>
                          <a:latin typeface="Calibri" pitchFamily="34" charset="0"/>
                          <a:ea typeface="Calibri" pitchFamily="34" charset="-122"/>
                          <a:cs typeface="Calibri" pitchFamily="34" charset="-120"/>
                        </a:rPr>
                        <a:t> Gamage </a:t>
                      </a:r>
                    </a:p>
                    <a:p>
                      <a:pPr marL="0" indent="0">
                        <a:buNone/>
                      </a:pPr>
                      <a:r>
                        <a:rPr lang="en-US" sz="1200" i="1" dirty="0" err="1">
                          <a:solidFill>
                            <a:srgbClr val="B45309"/>
                          </a:solidFill>
                          <a:latin typeface="Calibri" pitchFamily="34" charset="0"/>
                          <a:ea typeface="Calibri" pitchFamily="34" charset="-122"/>
                          <a:cs typeface="Calibri" pitchFamily="34" charset="-120"/>
                        </a:rPr>
                        <a:t>Aerocom</a:t>
                      </a:r>
                      <a:r>
                        <a:rPr lang="en-US" sz="1200" i="1" dirty="0">
                          <a:solidFill>
                            <a:srgbClr val="B45309"/>
                          </a:solidFill>
                          <a:latin typeface="Calibri" pitchFamily="34" charset="0"/>
                          <a:ea typeface="Calibri" pitchFamily="34" charset="-122"/>
                          <a:cs typeface="Calibri" pitchFamily="34" charset="-120"/>
                        </a:rPr>
                        <a:t> Supervisor,</a:t>
                      </a:r>
                    </a:p>
                    <a:p>
                      <a:pPr marL="0" indent="0">
                        <a:buNone/>
                      </a:pPr>
                      <a:r>
                        <a:rPr lang="en-US" sz="1200" i="1" dirty="0">
                          <a:solidFill>
                            <a:srgbClr val="B45309"/>
                          </a:solidFill>
                          <a:latin typeface="Calibri" pitchFamily="34" charset="0"/>
                          <a:ea typeface="Calibri" pitchFamily="34" charset="-122"/>
                          <a:cs typeface="Calibri" pitchFamily="34" charset="-120"/>
                        </a:rPr>
                        <a:t>Sri Lankan Air Lines </a:t>
                      </a:r>
                    </a:p>
                    <a:p>
                      <a:pPr marL="0" indent="0">
                        <a:buNone/>
                      </a:pPr>
                      <a:endParaRPr lang="en-US" sz="1200" dirty="0">
                        <a:latin typeface="Calibri" charset="0"/>
                        <a:ea typeface="Calibri" charset="0"/>
                        <a:cs typeface="Calibri" charset="0"/>
                      </a:endParaRPr>
                    </a:p>
                  </a:txBody>
                  <a:tcPr marL="76200" marR="76200" marT="50800" marB="50800">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tcPr>
                </a:tc>
                <a:tc>
                  <a:txBody>
                    <a:bodyPr/>
                    <a:lstStyle/>
                    <a:p>
                      <a:pPr marL="0" indent="0">
                        <a:buNone/>
                      </a:pPr>
                      <a:r>
                        <a:rPr lang="en-US" sz="1200" i="1" dirty="0"/>
                        <a:t>Expert supported the modelling approach and key digital-service priorities; several operational findings received neutral ratings.</a:t>
                      </a:r>
                      <a:endParaRPr lang="en-US" sz="1200" b="0" i="1" dirty="0">
                        <a:latin typeface="Calibri" charset="0"/>
                        <a:ea typeface="Calibri" charset="0"/>
                        <a:cs typeface="Calibri" charset="0"/>
                      </a:endParaRPr>
                    </a:p>
                  </a:txBody>
                  <a:tcPr marL="76200" marR="76200" marT="50800" marB="50800">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tcPr>
                </a:tc>
                <a:tc>
                  <a:txBody>
                    <a:bodyPr/>
                    <a:lstStyle/>
                    <a:p>
                      <a:pPr marL="0" indent="0">
                        <a:buNone/>
                      </a:pPr>
                      <a:r>
                        <a:rPr lang="en-US" sz="1200" i="1" dirty="0"/>
                        <a:t>Retained key service/DSS recommendations, while marking neutral findings for further expert and pilot validation.</a:t>
                      </a:r>
                      <a:endParaRPr lang="en-US" sz="1200" b="0" i="1" dirty="0">
                        <a:latin typeface="Calibri" charset="0"/>
                        <a:ea typeface="Calibri" charset="0"/>
                        <a:cs typeface="Calibri" charset="0"/>
                      </a:endParaRPr>
                    </a:p>
                  </a:txBody>
                  <a:tcPr marL="76200" marR="76200" marT="50800" marB="50800">
                    <a:lnL w="9525" cap="flat" cmpd="sng" algn="ctr">
                      <a:solidFill>
                        <a:srgbClr val="D9E6E3"/>
                      </a:solidFill>
                      <a:prstDash val="solid"/>
                      <a:round/>
                      <a:headEnd type="none" w="med" len="med"/>
                      <a:tailEnd type="none" w="med" len="med"/>
                    </a:lnL>
                    <a:lnR w="9525" cap="flat" cmpd="sng" algn="ctr">
                      <a:solidFill>
                        <a:srgbClr val="D9E6E3"/>
                      </a:solidFill>
                      <a:prstDash val="solid"/>
                      <a:round/>
                      <a:headEnd type="none" w="med" len="med"/>
                      <a:tailEnd type="none" w="med" len="med"/>
                    </a:lnR>
                    <a:lnT w="9525" cap="flat" cmpd="sng" algn="ctr">
                      <a:solidFill>
                        <a:srgbClr val="D9E6E3"/>
                      </a:solidFill>
                      <a:prstDash val="solid"/>
                      <a:round/>
                      <a:headEnd type="none" w="med" len="med"/>
                      <a:tailEnd type="none" w="med" len="med"/>
                    </a:lnT>
                    <a:lnB w="9525" cap="flat" cmpd="sng" algn="ctr">
                      <a:solidFill>
                        <a:srgbClr val="D9E6E3"/>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88952" cy="310896"/>
          </a:xfrm>
          <a:prstGeom prst="rect">
            <a:avLst/>
          </a:prstGeom>
          <a:solidFill>
            <a:srgbClr val="17324D"/>
          </a:solidFill>
          <a:ln w="12700">
            <a:solidFill>
              <a:srgbClr val="17324D"/>
            </a:solidFill>
            <a:prstDash val="solid"/>
          </a:ln>
        </p:spPr>
        <p:txBody>
          <a:bodyPr/>
          <a:lstStyle/>
          <a:p>
            <a:endParaRPr lang="en-US"/>
          </a:p>
        </p:txBody>
      </p:sp>
      <p:sp>
        <p:nvSpPr>
          <p:cNvPr id="3" name="Text 1"/>
          <p:cNvSpPr txBox="1"/>
          <p:nvPr/>
        </p:nvSpPr>
        <p:spPr>
          <a:xfrm>
            <a:off x="502920" y="54864"/>
            <a:ext cx="54864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12</a:t>
            </a:r>
            <a:endParaRPr lang="en-US" sz="1000" dirty="0"/>
          </a:p>
        </p:txBody>
      </p:sp>
      <p:sp>
        <p:nvSpPr>
          <p:cNvPr id="4" name="Text 2"/>
          <p:cNvSpPr txBox="1"/>
          <p:nvPr/>
        </p:nvSpPr>
        <p:spPr>
          <a:xfrm>
            <a:off x="11155680" y="54864"/>
            <a:ext cx="548640" cy="20116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502920" y="6419088"/>
            <a:ext cx="11201400" cy="18288"/>
          </a:xfrm>
          <a:prstGeom prst="rect">
            <a:avLst/>
          </a:prstGeom>
          <a:solidFill>
            <a:srgbClr val="F4A261"/>
          </a:solidFill>
          <a:ln w="12700">
            <a:solidFill>
              <a:srgbClr val="F4A261"/>
            </a:solidFill>
            <a:prstDash val="solid"/>
          </a:ln>
        </p:spPr>
        <p:txBody>
          <a:bodyPr/>
          <a:lstStyle/>
          <a:p>
            <a:endParaRPr lang="en-US"/>
          </a:p>
        </p:txBody>
      </p:sp>
      <p:sp>
        <p:nvSpPr>
          <p:cNvPr id="6" name="Text 4"/>
          <p:cNvSpPr txBox="1"/>
          <p:nvPr/>
        </p:nvSpPr>
        <p:spPr>
          <a:xfrm>
            <a:off x="502920" y="6492240"/>
            <a:ext cx="7315200" cy="182880"/>
          </a:xfrm>
          <a:prstGeom prst="rect">
            <a:avLst/>
          </a:prstGeom>
          <a:noFill/>
          <a:ln/>
        </p:spPr>
        <p:txBody>
          <a:bodyPr wrap="square" lIns="0" tIns="0" rIns="0" bIns="0" rtlCol="0" anchor="ctr"/>
          <a:lstStyle/>
          <a:p>
            <a:pPr marL="0" indent="0">
              <a:buNone/>
            </a:pPr>
            <a:r>
              <a:rPr lang="en-US" sz="900" dirty="0">
                <a:solidFill>
                  <a:srgbClr val="4B5563"/>
                </a:solidFill>
                <a:latin typeface="Calibri" pitchFamily="34" charset="0"/>
                <a:ea typeface="Calibri" pitchFamily="34" charset="-122"/>
                <a:cs typeface="Calibri" pitchFamily="34" charset="-120"/>
              </a:rPr>
              <a:t>IT3081 Statistical Modelling · Consultancy Presentation</a:t>
            </a:r>
            <a:endParaRPr lang="en-US" sz="900" dirty="0"/>
          </a:p>
        </p:txBody>
      </p:sp>
      <p:sp>
        <p:nvSpPr>
          <p:cNvPr id="7" name="Text 5"/>
          <p:cNvSpPr txBox="1"/>
          <p:nvPr/>
        </p:nvSpPr>
        <p:spPr>
          <a:xfrm>
            <a:off x="713232" y="548640"/>
            <a:ext cx="1078992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Final Consultancy Recommendations</a:t>
            </a:r>
            <a:endParaRPr lang="en-US" sz="3200" dirty="0"/>
          </a:p>
        </p:txBody>
      </p:sp>
      <p:sp>
        <p:nvSpPr>
          <p:cNvPr id="8" name="Text 6"/>
          <p:cNvSpPr txBox="1"/>
          <p:nvPr/>
        </p:nvSpPr>
        <p:spPr>
          <a:xfrm>
            <a:off x="713232" y="1207008"/>
            <a:ext cx="10789920" cy="320040"/>
          </a:xfrm>
          <a:prstGeom prst="rect">
            <a:avLst/>
          </a:prstGeom>
          <a:noFill/>
          <a:ln/>
        </p:spPr>
        <p:txBody>
          <a:bodyPr wrap="square" lIns="0" tIns="0" rIns="0" bIns="0" rtlCol="0" anchor="ctr"/>
          <a:lstStyle/>
          <a:p>
            <a:pPr marL="0" indent="0">
              <a:buNone/>
            </a:pPr>
            <a:r>
              <a:rPr lang="en-US" sz="1500" dirty="0">
                <a:solidFill>
                  <a:srgbClr val="4B5563"/>
                </a:solidFill>
                <a:latin typeface="Calibri" pitchFamily="34" charset="0"/>
                <a:ea typeface="Calibri" pitchFamily="34" charset="-122"/>
                <a:cs typeface="Calibri" pitchFamily="34" charset="-120"/>
              </a:rPr>
              <a:t>Clear priorities for senior management.</a:t>
            </a:r>
            <a:endParaRPr lang="en-US" sz="1500" dirty="0"/>
          </a:p>
        </p:txBody>
      </p:sp>
      <p:sp>
        <p:nvSpPr>
          <p:cNvPr id="9" name="Text 7"/>
          <p:cNvSpPr txBox="1"/>
          <p:nvPr/>
        </p:nvSpPr>
        <p:spPr>
          <a:xfrm>
            <a:off x="502920" y="1728216"/>
            <a:ext cx="5120640" cy="4489704"/>
          </a:xfrm>
          <a:prstGeom prst="rect">
            <a:avLst/>
          </a:prstGeom>
          <a:noFill/>
          <a:ln/>
        </p:spPr>
        <p:txBody>
          <a:bodyPr wrap="square" lIns="0" tIns="0" rIns="0" bIns="0" rtlCol="0" anchor="t"/>
          <a:lstStyle/>
          <a:p>
            <a:pPr marL="342900" indent="-342900">
              <a:spcAft>
                <a:spcPts val="1400"/>
              </a:spcAft>
              <a:buSzPct val="100000"/>
              <a:buFont typeface="Wingdings" panose="05000000000000000000" pitchFamily="2" charset="2"/>
              <a:buChar char="§"/>
            </a:pPr>
            <a:r>
              <a:rPr lang="en-US" b="1" dirty="0">
                <a:solidFill>
                  <a:srgbClr val="000066"/>
                </a:solidFill>
                <a:latin typeface="Calibri" pitchFamily="34" charset="0"/>
                <a:ea typeface="Calibri" pitchFamily="34" charset="-122"/>
                <a:cs typeface="Calibri" pitchFamily="34" charset="-120"/>
              </a:rPr>
              <a:t>Strategic</a:t>
            </a:r>
            <a:r>
              <a:rPr lang="en-US" dirty="0">
                <a:solidFill>
                  <a:srgbClr val="000066"/>
                </a:solidFill>
                <a:latin typeface="Calibri" pitchFamily="34" charset="0"/>
                <a:ea typeface="Calibri" pitchFamily="34" charset="-122"/>
                <a:cs typeface="Calibri" pitchFamily="34" charset="-120"/>
              </a:rPr>
              <a:t>: online boarding and in-flight Wi-Fi give the largest gains; fix Wi-Fi, check-in and online booking first</a:t>
            </a:r>
            <a:endParaRPr lang="en-US" dirty="0">
              <a:solidFill>
                <a:srgbClr val="000066"/>
              </a:solidFill>
            </a:endParaRPr>
          </a:p>
          <a:p>
            <a:pPr marL="342900" indent="-342900">
              <a:spcAft>
                <a:spcPts val="1400"/>
              </a:spcAft>
              <a:buSzPct val="100000"/>
              <a:buFont typeface="Wingdings" panose="05000000000000000000" pitchFamily="2" charset="2"/>
              <a:buChar char="§"/>
            </a:pPr>
            <a:r>
              <a:rPr lang="en-US" b="1" dirty="0">
                <a:solidFill>
                  <a:srgbClr val="000066"/>
                </a:solidFill>
                <a:latin typeface="Calibri" pitchFamily="34" charset="0"/>
                <a:ea typeface="Calibri" pitchFamily="34" charset="-122"/>
                <a:cs typeface="Calibri" pitchFamily="34" charset="-120"/>
              </a:rPr>
              <a:t>Operational: </a:t>
            </a:r>
            <a:r>
              <a:rPr lang="en-US" dirty="0">
                <a:solidFill>
                  <a:srgbClr val="000066"/>
                </a:solidFill>
                <a:latin typeface="Calibri" pitchFamily="34" charset="0"/>
                <a:ea typeface="Calibri" pitchFamily="34" charset="-122"/>
                <a:cs typeface="Calibri" pitchFamily="34" charset="-120"/>
              </a:rPr>
              <a:t>service recovery for high-risk passengers; target Economy, personal-travel and first-time customers</a:t>
            </a:r>
            <a:endParaRPr lang="en-US" dirty="0">
              <a:solidFill>
                <a:srgbClr val="000066"/>
              </a:solidFill>
            </a:endParaRPr>
          </a:p>
          <a:p>
            <a:pPr marL="342900" indent="-342900">
              <a:spcAft>
                <a:spcPts val="1400"/>
              </a:spcAft>
              <a:buSzPct val="100000"/>
              <a:buFont typeface="Wingdings" panose="05000000000000000000" pitchFamily="2" charset="2"/>
              <a:buChar char="§"/>
            </a:pPr>
            <a:r>
              <a:rPr lang="en-US" b="1" dirty="0">
                <a:solidFill>
                  <a:srgbClr val="000066"/>
                </a:solidFill>
                <a:latin typeface="Calibri" pitchFamily="34" charset="0"/>
                <a:ea typeface="Calibri" pitchFamily="34" charset="-122"/>
                <a:cs typeface="Calibri" pitchFamily="34" charset="-120"/>
              </a:rPr>
              <a:t>Risk management: </a:t>
            </a:r>
            <a:r>
              <a:rPr lang="en-US" dirty="0">
                <a:solidFill>
                  <a:srgbClr val="000066"/>
                </a:solidFill>
                <a:latin typeface="Calibri" pitchFamily="34" charset="0"/>
                <a:ea typeface="Calibri" pitchFamily="34" charset="-122"/>
                <a:cs typeface="Calibri" pitchFamily="34" charset="-120"/>
              </a:rPr>
              <a:t>findings are associations, so do not raise gate location or time convenience</a:t>
            </a:r>
          </a:p>
          <a:p>
            <a:pPr marL="285750" indent="-285750">
              <a:buSzPct val="100000"/>
              <a:buFont typeface="Wingdings" panose="05000000000000000000" pitchFamily="2" charset="2"/>
              <a:buChar char="§"/>
            </a:pPr>
            <a:r>
              <a:rPr lang="en-US" b="1" dirty="0">
                <a:solidFill>
                  <a:srgbClr val="000066"/>
                </a:solidFill>
              </a:rPr>
              <a:t> Ethical considerations</a:t>
            </a:r>
            <a:r>
              <a:rPr lang="en-US" dirty="0">
                <a:solidFill>
                  <a:srgbClr val="000066"/>
                </a:solidFill>
              </a:rPr>
              <a:t> :Protect passenger privacy and consent ,Avoid unfair treatment by gender or age Make no causal claims from survey data</a:t>
            </a:r>
          </a:p>
          <a:p>
            <a:pPr lvl="0"/>
            <a:r>
              <a:rPr lang="en-US" dirty="0">
                <a:solidFill>
                  <a:srgbClr val="000066"/>
                </a:solidFill>
              </a:rPr>
              <a:t>   </a:t>
            </a:r>
          </a:p>
          <a:p>
            <a:pPr marL="342900" indent="-342900">
              <a:spcAft>
                <a:spcPts val="1400"/>
              </a:spcAft>
              <a:buSzPct val="100000"/>
              <a:buFont typeface="Wingdings" panose="05000000000000000000" pitchFamily="2" charset="2"/>
              <a:buChar char="§"/>
            </a:pPr>
            <a:r>
              <a:rPr lang="en-US" b="1" dirty="0">
                <a:solidFill>
                  <a:srgbClr val="000066"/>
                </a:solidFill>
                <a:latin typeface="Calibri" pitchFamily="34" charset="0"/>
                <a:ea typeface="Calibri" pitchFamily="34" charset="-122"/>
                <a:cs typeface="Calibri" pitchFamily="34" charset="-120"/>
              </a:rPr>
              <a:t>Next steps</a:t>
            </a:r>
            <a:r>
              <a:rPr lang="en-US" dirty="0">
                <a:solidFill>
                  <a:srgbClr val="000066"/>
                </a:solidFill>
                <a:latin typeface="Calibri" pitchFamily="34" charset="0"/>
                <a:ea typeface="Calibri" pitchFamily="34" charset="-122"/>
                <a:cs typeface="Calibri" pitchFamily="34" charset="-120"/>
              </a:rPr>
              <a:t>: RCBD pilot by route, collect dated data, complete expert validation</a:t>
            </a:r>
          </a:p>
          <a:p>
            <a:pPr marL="285750" lvl="0" indent="-285750">
              <a:buFont typeface="Wingdings" panose="05000000000000000000" pitchFamily="2" charset="2"/>
              <a:buChar char="§"/>
            </a:pPr>
            <a:endParaRPr lang="en-US" dirty="0">
              <a:solidFill>
                <a:srgbClr val="000066"/>
              </a:solidFill>
            </a:endParaRPr>
          </a:p>
          <a:p>
            <a:pPr marL="342900" indent="-342900">
              <a:spcAft>
                <a:spcPts val="1400"/>
              </a:spcAft>
              <a:buSzPct val="100000"/>
              <a:buFont typeface="Wingdings" panose="05000000000000000000" pitchFamily="2" charset="2"/>
              <a:buChar char="§"/>
            </a:pPr>
            <a:endParaRPr lang="en-US" dirty="0">
              <a:solidFill>
                <a:srgbClr val="000066"/>
              </a:solidFill>
            </a:endParaRPr>
          </a:p>
          <a:p>
            <a:pPr marL="342900" indent="-342900">
              <a:spcAft>
                <a:spcPts val="1400"/>
              </a:spcAft>
              <a:buSzPct val="100000"/>
              <a:buFont typeface="Wingdings" panose="05000000000000000000" pitchFamily="2" charset="2"/>
              <a:buChar char="§"/>
            </a:pPr>
            <a:endParaRPr lang="en-US" dirty="0">
              <a:solidFill>
                <a:srgbClr val="000066"/>
              </a:solidFill>
            </a:endParaRPr>
          </a:p>
        </p:txBody>
      </p:sp>
      <p:sp>
        <p:nvSpPr>
          <p:cNvPr id="10" name="Shape 8"/>
          <p:cNvSpPr/>
          <p:nvPr/>
        </p:nvSpPr>
        <p:spPr>
          <a:xfrm>
            <a:off x="6126480" y="1783080"/>
            <a:ext cx="5577840" cy="4434840"/>
          </a:xfrm>
          <a:prstGeom prst="roundRect">
            <a:avLst>
              <a:gd name="adj" fmla="val 1649"/>
            </a:avLst>
          </a:prstGeom>
          <a:solidFill>
            <a:srgbClr val="FFFFFF"/>
          </a:solidFill>
          <a:ln w="12700">
            <a:solidFill>
              <a:srgbClr val="D9E6E3"/>
            </a:solidFill>
            <a:prstDash val="solid"/>
          </a:ln>
        </p:spPr>
        <p:txBody>
          <a:bodyPr/>
          <a:lstStyle/>
          <a:p>
            <a:endParaRPr lang="en-US"/>
          </a:p>
        </p:txBody>
      </p:sp>
      <p:sp>
        <p:nvSpPr>
          <p:cNvPr id="11" name="Text 9"/>
          <p:cNvSpPr txBox="1"/>
          <p:nvPr/>
        </p:nvSpPr>
        <p:spPr>
          <a:xfrm>
            <a:off x="6309360" y="1920240"/>
            <a:ext cx="5212080" cy="1108710"/>
          </a:xfrm>
          <a:prstGeom prst="rect">
            <a:avLst/>
          </a:prstGeom>
          <a:noFill/>
          <a:ln/>
        </p:spPr>
        <p:txBody>
          <a:bodyPr wrap="square" lIns="0" tIns="0" rIns="0" bIns="0" rtlCol="0" anchor="b"/>
          <a:lstStyle/>
          <a:p>
            <a:pPr marL="0" indent="0" algn="ctr">
              <a:buNone/>
            </a:pPr>
            <a:r>
              <a:rPr lang="en-US" sz="4400" b="1" dirty="0">
                <a:solidFill>
                  <a:srgbClr val="2A9D8F"/>
                </a:solidFill>
                <a:latin typeface="Cambria" pitchFamily="34" charset="0"/>
                <a:ea typeface="Cambria" pitchFamily="34" charset="-122"/>
                <a:cs typeface="Cambria" pitchFamily="34" charset="-120"/>
              </a:rPr>
              <a:t>+5.6 pp</a:t>
            </a:r>
            <a:endParaRPr lang="en-US" sz="4400" dirty="0"/>
          </a:p>
        </p:txBody>
      </p:sp>
      <p:sp>
        <p:nvSpPr>
          <p:cNvPr id="12" name="Text 10"/>
          <p:cNvSpPr txBox="1"/>
          <p:nvPr/>
        </p:nvSpPr>
        <p:spPr>
          <a:xfrm>
            <a:off x="6309360" y="302895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predicted gain from better online boarding</a:t>
            </a:r>
            <a:endParaRPr lang="en-US" sz="1500" dirty="0"/>
          </a:p>
        </p:txBody>
      </p:sp>
      <p:sp>
        <p:nvSpPr>
          <p:cNvPr id="13" name="Text 11"/>
          <p:cNvSpPr txBox="1"/>
          <p:nvPr/>
        </p:nvSpPr>
        <p:spPr>
          <a:xfrm>
            <a:off x="6309360" y="4137660"/>
            <a:ext cx="5212080" cy="1108710"/>
          </a:xfrm>
          <a:prstGeom prst="rect">
            <a:avLst/>
          </a:prstGeom>
          <a:noFill/>
          <a:ln/>
        </p:spPr>
        <p:txBody>
          <a:bodyPr wrap="square" lIns="0" tIns="0" rIns="0" bIns="0" rtlCol="0" anchor="b"/>
          <a:lstStyle/>
          <a:p>
            <a:pPr marL="0" indent="0" algn="ctr">
              <a:buNone/>
            </a:pPr>
            <a:r>
              <a:rPr lang="en-US" sz="4400" b="1" dirty="0">
                <a:solidFill>
                  <a:srgbClr val="E07B2A"/>
                </a:solidFill>
                <a:latin typeface="Cambria" pitchFamily="34" charset="0"/>
                <a:ea typeface="Cambria" pitchFamily="34" charset="-122"/>
                <a:cs typeface="Cambria" pitchFamily="34" charset="-120"/>
              </a:rPr>
              <a:t>+5.6 pp</a:t>
            </a:r>
            <a:endParaRPr lang="en-US" sz="4400" dirty="0"/>
          </a:p>
        </p:txBody>
      </p:sp>
      <p:sp>
        <p:nvSpPr>
          <p:cNvPr id="14" name="Text 12"/>
          <p:cNvSpPr txBox="1"/>
          <p:nvPr/>
        </p:nvSpPr>
        <p:spPr>
          <a:xfrm>
            <a:off x="6309360" y="5246370"/>
            <a:ext cx="5212080" cy="665226"/>
          </a:xfrm>
          <a:prstGeom prst="rect">
            <a:avLst/>
          </a:prstGeom>
          <a:noFill/>
          <a:ln/>
        </p:spPr>
        <p:txBody>
          <a:bodyPr wrap="square" lIns="0" tIns="0" rIns="0" bIns="0" rtlCol="0" anchor="t"/>
          <a:lstStyle/>
          <a:p>
            <a:pPr marL="0" indent="0" algn="ctr">
              <a:buNone/>
            </a:pPr>
            <a:r>
              <a:rPr lang="en-US" sz="1500" dirty="0">
                <a:solidFill>
                  <a:srgbClr val="4B5563"/>
                </a:solidFill>
                <a:latin typeface="Calibri" pitchFamily="34" charset="0"/>
                <a:ea typeface="Calibri" pitchFamily="34" charset="-122"/>
                <a:cs typeface="Calibri" pitchFamily="34" charset="-120"/>
              </a:rPr>
              <a:t>predicted gain from better in-flight Wi-Fi</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4E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310896"/>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4864"/>
            <a:ext cx="5486400" cy="201168"/>
          </a:xfrm>
          <a:prstGeom prst="rect">
            <a:avLst/>
          </a:prstGeom>
          <a:noFill/>
        </p:spPr>
        <p:txBody>
          <a:bodyPr wrap="none">
            <a:spAutoFit/>
          </a:bodyPr>
          <a:lstStyle/>
          <a:p>
            <a:pPr algn="l"/>
            <a:r>
              <a:rPr sz="900" b="1">
                <a:solidFill>
                  <a:srgbClr val="FFFFFF"/>
                </a:solidFill>
                <a:latin typeface="Calibri"/>
              </a:rPr>
              <a:t>References</a:t>
            </a:r>
          </a:p>
        </p:txBody>
      </p:sp>
      <p:sp>
        <p:nvSpPr>
          <p:cNvPr id="4" name="TextBox 3"/>
          <p:cNvSpPr txBox="1"/>
          <p:nvPr/>
        </p:nvSpPr>
        <p:spPr>
          <a:xfrm>
            <a:off x="11155680" y="54864"/>
            <a:ext cx="548640" cy="201168"/>
          </a:xfrm>
          <a:prstGeom prst="rect">
            <a:avLst/>
          </a:prstGeom>
          <a:noFill/>
        </p:spPr>
        <p:txBody>
          <a:bodyPr wrap="none">
            <a:spAutoFit/>
          </a:bodyPr>
          <a:lstStyle/>
          <a:p>
            <a:pPr algn="r"/>
            <a:r>
              <a:rPr sz="900" b="1">
                <a:solidFill>
                  <a:srgbClr val="FFFFFF"/>
                </a:solidFill>
                <a:latin typeface="Calibri"/>
              </a:rPr>
              <a:t>16</a:t>
            </a:r>
          </a:p>
        </p:txBody>
      </p:sp>
      <p:sp>
        <p:nvSpPr>
          <p:cNvPr id="5" name="TextBox 4"/>
          <p:cNvSpPr txBox="1"/>
          <p:nvPr/>
        </p:nvSpPr>
        <p:spPr>
          <a:xfrm>
            <a:off x="713232" y="548640"/>
            <a:ext cx="10789920" cy="640080"/>
          </a:xfrm>
          <a:prstGeom prst="rect">
            <a:avLst/>
          </a:prstGeom>
          <a:noFill/>
        </p:spPr>
        <p:txBody>
          <a:bodyPr wrap="none">
            <a:spAutoFit/>
          </a:bodyPr>
          <a:lstStyle/>
          <a:p>
            <a:pPr algn="l"/>
            <a:r>
              <a:rPr sz="3200" b="1">
                <a:solidFill>
                  <a:srgbClr val="17324D"/>
                </a:solidFill>
                <a:latin typeface="Cambria"/>
              </a:rPr>
              <a:t>References</a:t>
            </a:r>
          </a:p>
        </p:txBody>
      </p:sp>
      <p:sp>
        <p:nvSpPr>
          <p:cNvPr id="6" name="TextBox 5"/>
          <p:cNvSpPr txBox="1"/>
          <p:nvPr/>
        </p:nvSpPr>
        <p:spPr>
          <a:xfrm>
            <a:off x="713232" y="1207008"/>
            <a:ext cx="10789920" cy="320040"/>
          </a:xfrm>
          <a:prstGeom prst="rect">
            <a:avLst/>
          </a:prstGeom>
          <a:noFill/>
        </p:spPr>
        <p:txBody>
          <a:bodyPr wrap="none">
            <a:spAutoFit/>
          </a:bodyPr>
          <a:lstStyle/>
          <a:p>
            <a:pPr algn="l"/>
            <a:r>
              <a:rPr sz="1500" b="0">
                <a:solidFill>
                  <a:srgbClr val="4B5563"/>
                </a:solidFill>
                <a:latin typeface="Calibri"/>
              </a:rPr>
              <a:t>Key academic and project sources cited in this presentation.</a:t>
            </a:r>
          </a:p>
        </p:txBody>
      </p:sp>
      <p:sp>
        <p:nvSpPr>
          <p:cNvPr id="7" name="Rounded Rectangle 6"/>
          <p:cNvSpPr/>
          <p:nvPr/>
        </p:nvSpPr>
        <p:spPr>
          <a:xfrm>
            <a:off x="713232" y="1737360"/>
            <a:ext cx="10789920" cy="4480560"/>
          </a:xfrm>
          <a:prstGeom prst="roundRect">
            <a:avLst/>
          </a:prstGeom>
          <a:solidFill>
            <a:srgbClr val="FFFFFF"/>
          </a:solidFill>
          <a:ln>
            <a:solidFill>
              <a:srgbClr val="CFDF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38528"/>
            <a:ext cx="10287000" cy="3557384"/>
          </a:xfrm>
          <a:prstGeom prst="rect">
            <a:avLst/>
          </a:prstGeom>
          <a:noFill/>
        </p:spPr>
        <p:txBody>
          <a:bodyPr wrap="square">
            <a:spAutoFit/>
          </a:bodyPr>
          <a:lstStyle/>
          <a:p>
            <a:pPr marL="171450" indent="-171450">
              <a:spcAft>
                <a:spcPts val="700"/>
              </a:spcAft>
              <a:buFont typeface="Arial" panose="020B0604020202020204" pitchFamily="34" charset="0"/>
              <a:buChar char="•"/>
            </a:pPr>
            <a:r>
              <a:rPr sz="1200" dirty="0">
                <a:solidFill>
                  <a:srgbClr val="17324D"/>
                </a:solidFill>
                <a:latin typeface="Calibri"/>
              </a:rPr>
              <a:t>Gao, K., Yang, Y., &amp; Qu, X. (2021). Examining nonlinear and interaction effects of multiple determinants on airline travel satisfaction. Transportation Research Part D: Transport and Environment, 97, </a:t>
            </a:r>
            <a:r>
              <a:rPr lang="en-US" sz="1200" dirty="0">
                <a:solidFill>
                  <a:srgbClr val="17324D"/>
                </a:solidFill>
                <a:latin typeface="Calibri"/>
              </a:rPr>
              <a:t>102957.  https://doi.org/10.1016/j.trd.2021.102957</a:t>
            </a:r>
          </a:p>
          <a:p>
            <a:pPr marL="171450" indent="-171450">
              <a:spcAft>
                <a:spcPts val="700"/>
              </a:spcAft>
              <a:buFont typeface="Arial" panose="020B0604020202020204" pitchFamily="34" charset="0"/>
              <a:buChar char="•"/>
            </a:pPr>
            <a:r>
              <a:rPr lang="en-US" sz="1200" dirty="0" err="1">
                <a:solidFill>
                  <a:srgbClr val="17324D"/>
                </a:solidFill>
                <a:latin typeface="Calibri"/>
              </a:rPr>
              <a:t>Krirkchaiwan</a:t>
            </a:r>
            <a:r>
              <a:rPr lang="en-US" sz="1200" dirty="0">
                <a:solidFill>
                  <a:srgbClr val="17324D"/>
                </a:solidFill>
                <a:latin typeface="Calibri"/>
              </a:rPr>
              <a:t>, P. (2024). A study of airline passenger segmentation based on satisfaction evaluation using data science techniques [Master’s project, </a:t>
            </a:r>
            <a:r>
              <a:rPr lang="en-US" sz="1200" dirty="0" err="1">
                <a:solidFill>
                  <a:srgbClr val="17324D"/>
                </a:solidFill>
                <a:latin typeface="Calibri"/>
              </a:rPr>
              <a:t>Srinakharinwirot</a:t>
            </a:r>
            <a:r>
              <a:rPr lang="en-US" sz="1200" dirty="0">
                <a:solidFill>
                  <a:srgbClr val="17324D"/>
                </a:solidFill>
                <a:latin typeface="Calibri"/>
              </a:rPr>
              <a:t> University]. </a:t>
            </a:r>
            <a:r>
              <a:rPr lang="en-US" sz="1200" b="0" i="0" u="none" strike="noStrike" dirty="0">
                <a:solidFill>
                  <a:srgbClr val="1E6F90"/>
                </a:solidFill>
                <a:effectLst/>
                <a:latin typeface="Nunito" panose="020F0502020204030204" pitchFamily="2" charset="0"/>
                <a:hlinkClick r:id="rId2"/>
              </a:rPr>
              <a:t>https://ir-ithesis.swu.ac.th/handle/123456789/3138</a:t>
            </a:r>
            <a:endParaRPr lang="en-US" sz="1200" dirty="0">
              <a:solidFill>
                <a:srgbClr val="17324D"/>
              </a:solidFill>
              <a:latin typeface="Calibri"/>
            </a:endParaRPr>
          </a:p>
          <a:p>
            <a:pPr marL="171450" indent="-171450">
              <a:spcAft>
                <a:spcPts val="700"/>
              </a:spcAft>
              <a:buFont typeface="Arial" panose="020B0604020202020204" pitchFamily="34" charset="0"/>
              <a:buChar char="•"/>
            </a:pPr>
            <a:r>
              <a:rPr sz="1200" dirty="0">
                <a:solidFill>
                  <a:srgbClr val="17324D"/>
                </a:solidFill>
                <a:latin typeface="Calibri"/>
              </a:rPr>
              <a:t>Xue, J. (2025). Airline passenger satisfaction prediction and key influential factors identification based on logistic regression and random forest. Proceedings of the 2nd International Conference on Innovations in Applied Mathematics, Physics, and Astronomy (IAMPA 2025), 610–614. </a:t>
            </a:r>
            <a:r>
              <a:rPr sz="1200" dirty="0">
                <a:solidFill>
                  <a:srgbClr val="17324D"/>
                </a:solidFill>
                <a:latin typeface="Calibri"/>
                <a:hlinkClick r:id="rId3"/>
              </a:rPr>
              <a:t>https://doi.org/10.5220/0013834200004708</a:t>
            </a:r>
            <a:endParaRPr lang="en-US" sz="1200" dirty="0">
              <a:solidFill>
                <a:srgbClr val="17324D"/>
              </a:solidFill>
              <a:latin typeface="Calibri"/>
            </a:endParaRPr>
          </a:p>
          <a:p>
            <a:pPr marL="171450" indent="-171450">
              <a:spcAft>
                <a:spcPts val="700"/>
              </a:spcAft>
              <a:buFont typeface="Arial" panose="020B0604020202020204" pitchFamily="34" charset="0"/>
              <a:buChar char="•"/>
            </a:pPr>
            <a:r>
              <a:rPr lang="en-US" sz="1200" dirty="0" err="1"/>
              <a:t>Martilla</a:t>
            </a:r>
            <a:r>
              <a:rPr lang="en-US" sz="1200" dirty="0"/>
              <a:t>, J. A., &amp; James, J. C. (1977). Importance-performance analysis. Journal of Marketing, 41(1), 77–79.https://doi.org/10.1177/002224297704100112</a:t>
            </a:r>
          </a:p>
          <a:p>
            <a:pPr marL="171450" indent="-171450" algn="l">
              <a:spcAft>
                <a:spcPts val="700"/>
              </a:spcAft>
              <a:buFont typeface="Arial" panose="020B0604020202020204" pitchFamily="34" charset="0"/>
              <a:buChar char="•"/>
              <a:defRPr sz="1100"/>
            </a:pPr>
            <a:r>
              <a:rPr lang="en-US" sz="1200" dirty="0"/>
              <a:t>Hussain, R., Al Nasser, A., &amp; Hussain, Y. K. (2015). Service quality and customer satisfaction of a UAE-based airline: An empirical investigation. Journal of Air Transport Management, 42, 167–175. </a:t>
            </a:r>
            <a:r>
              <a:rPr lang="en-US" sz="1200" dirty="0">
                <a:hlinkClick r:id="rId4"/>
              </a:rPr>
              <a:t>https://doi.org/10.1016/j.jairtraman.2014.10.001</a:t>
            </a:r>
            <a:endParaRPr lang="en-US" sz="1200" dirty="0"/>
          </a:p>
          <a:p>
            <a:pPr marL="171450" indent="-171450" algn="l">
              <a:spcAft>
                <a:spcPts val="700"/>
              </a:spcAft>
              <a:buFont typeface="Arial" panose="020B0604020202020204" pitchFamily="34" charset="0"/>
              <a:buChar char="•"/>
              <a:defRPr sz="1100"/>
            </a:pPr>
            <a:r>
              <a:rPr lang="en-US" sz="1200" dirty="0" err="1"/>
              <a:t>Tsafarakis</a:t>
            </a:r>
            <a:r>
              <a:rPr lang="en-US" sz="1200" dirty="0"/>
              <a:t>, S., </a:t>
            </a:r>
            <a:r>
              <a:rPr lang="en-US" sz="1200" dirty="0" err="1"/>
              <a:t>Kokotas</a:t>
            </a:r>
            <a:r>
              <a:rPr lang="en-US" sz="1200" dirty="0"/>
              <a:t>, T., &amp; </a:t>
            </a:r>
            <a:r>
              <a:rPr lang="en-US" sz="1200" dirty="0" err="1"/>
              <a:t>Pantouvakis</a:t>
            </a:r>
            <a:r>
              <a:rPr lang="en-US" sz="1200" dirty="0"/>
              <a:t>, A. (2018). A multiple criteria approach for airline passenger satisfaction measurement and service quality improvement. Journal of Air Transport Management, 68, 61–75. </a:t>
            </a:r>
            <a:r>
              <a:rPr lang="en-US" sz="1200" dirty="0">
                <a:hlinkClick r:id="rId5"/>
              </a:rPr>
              <a:t>https://doi.org/10.1016/j.jairtraman.2017.09.010</a:t>
            </a:r>
            <a:endParaRPr lang="en-US" sz="1200" dirty="0"/>
          </a:p>
          <a:p>
            <a:pPr marL="171450" indent="-171450" algn="l">
              <a:spcAft>
                <a:spcPts val="700"/>
              </a:spcAft>
              <a:buFont typeface="Arial" panose="020B0604020202020204" pitchFamily="34" charset="0"/>
              <a:buChar char="•"/>
              <a:defRPr sz="1100"/>
            </a:pPr>
            <a:r>
              <a:rPr lang="en-US" sz="1200" dirty="0"/>
              <a:t>Shah, F. T., Syed, Z., Imam, A., &amp; Raza, A. (2020). The impact of airline service quality on passengers’ behavioral intentions using passenger satisfaction as a mediator. Journal of Air Transport Management, 85, 101815. https://doi.org/10.1016/j.jairtraman.2020.101815</a:t>
            </a:r>
          </a:p>
          <a:p>
            <a:pPr marL="171450" indent="-171450">
              <a:spcAft>
                <a:spcPts val="700"/>
              </a:spcAft>
              <a:buFont typeface="Arial" panose="020B0604020202020204" pitchFamily="34" charset="0"/>
              <a:buChar char="•"/>
            </a:pPr>
            <a:endParaRPr sz="1050" dirty="0">
              <a:solidFill>
                <a:srgbClr val="17324D"/>
              </a:solidFill>
              <a:latin typeface="Calibri"/>
            </a:endParaRPr>
          </a:p>
        </p:txBody>
      </p:sp>
      <p:sp>
        <p:nvSpPr>
          <p:cNvPr id="9" name="Rectangle 8"/>
          <p:cNvSpPr/>
          <p:nvPr/>
        </p:nvSpPr>
        <p:spPr>
          <a:xfrm>
            <a:off x="502920" y="6419088"/>
            <a:ext cx="11201400" cy="18288"/>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492240"/>
            <a:ext cx="7315200" cy="182880"/>
          </a:xfrm>
          <a:prstGeom prst="rect">
            <a:avLst/>
          </a:prstGeom>
          <a:noFill/>
        </p:spPr>
        <p:txBody>
          <a:bodyPr wrap="none">
            <a:spAutoFit/>
          </a:bodyPr>
          <a:lstStyle/>
          <a:p>
            <a:pPr algn="l"/>
            <a:r>
              <a:rPr sz="800" b="0">
                <a:solidFill>
                  <a:srgbClr val="4B5563"/>
                </a:solidFill>
                <a:latin typeface="Calibri"/>
              </a:rPr>
              <a:t>IT3081 Statistical Modelling · Consultancy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909</TotalTime>
  <Words>2762</Words>
  <Application>Microsoft Office PowerPoint</Application>
  <PresentationFormat>Widescreen</PresentationFormat>
  <Paragraphs>267</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Nunito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Thilakarathne G V S IT24101250</cp:lastModifiedBy>
  <cp:revision>15</cp:revision>
  <dcterms:created xsi:type="dcterms:W3CDTF">2026-10-01T06:05:15Z</dcterms:created>
  <dcterms:modified xsi:type="dcterms:W3CDTF">2026-10-03T03:05:34Z</dcterms:modified>
</cp:coreProperties>
</file>